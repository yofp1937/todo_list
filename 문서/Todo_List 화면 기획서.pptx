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 saveSubsetFonts="1" autoCompressPictures="0">
  <p:sldMasterIdLst>
    <p:sldMasterId id="2147483671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def="{5C22544A-7EE6-4342-B048-85BDC9FD1C3A}">
  <a:tblStyle styleId="{C35AED71-FBF5-48EC-AFBA-17D411AA58C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80" d="100"/>
          <a:sy n="180" d="100"/>
        </p:scale>
        <p:origin x="730" y="106"/>
      </p:cViewPr>
      <p:guideLst>
        <p:guide orient="horz" pos="1614"/>
        <p:guide pos="287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presProps" Target="presProps.xml"  /><Relationship Id="rId15" Type="http://schemas.openxmlformats.org/officeDocument/2006/relationships/viewProps" Target="viewProps.xml"  /><Relationship Id="rId16" Type="http://schemas.openxmlformats.org/officeDocument/2006/relationships/theme" Target="theme/theme1.xml"  /><Relationship Id="rId17" Type="http://schemas.openxmlformats.org/officeDocument/2006/relationships/tableStyles" Target="tableStyles.xml"  /><Relationship Id="rId2" Type="http://schemas.openxmlformats.org/officeDocument/2006/relationships/notesMaster" Target="notesMasters/notesMaster1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2be51da4615_0_5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2be51da4615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2be51da4615_0_64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2be51da4615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be51da4615_0_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be51da4615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be51da4615_0_123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be51da461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2be51da4615_0_362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2be51da4615_0_3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be51da4615_0_31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be51da4615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be51da4615_0_31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be51da4615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be51da4615_0_31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be51da4615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be51da4615_0_31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be51da4615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be51da4615_0_31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be51da4615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3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3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3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3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3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3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3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3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3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 idx="0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wrap="square" lIns="91424" tIns="91424" rIns="91424" bIns="91424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/>
              <a:t>Todo List</a:t>
            </a:r>
            <a:endParaRPr lang="ko-KR" altLang="en-US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wrap="square" lIns="91424" tIns="91424" rIns="91424" bIns="91424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/>
              <a:t>WPF</a:t>
            </a:r>
            <a:r>
              <a:rPr lang="ko"/>
              <a:t> 화면 기획</a:t>
            </a:r>
            <a:endParaRPr lang="ko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 idx="0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wrap="square" lIns="91424" tIns="91424" rIns="91424" bIns="91424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"/>
              <a:t>목차</a:t>
            </a:r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wrap="square" lIns="91424" tIns="91424" rIns="91424" bIns="91424" anchor="t" anchorCtr="0">
            <a:normAutofit lnSpcReduction="1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ct val="25000"/>
              <a:buAutoNum type="arabicPeriod"/>
              <a:defRPr/>
            </a:pPr>
            <a:r>
              <a:rPr lang="ko"/>
              <a:t>수정 이력</a:t>
            </a:r>
            <a:endParaRPr lang="ko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ct val="25000"/>
              <a:buAutoNum type="arabicPeriod"/>
              <a:defRPr/>
            </a:pPr>
            <a:r>
              <a:rPr lang="ko-KR" altLang="en-US"/>
              <a:t>메인 윈도우 뷰</a:t>
            </a:r>
            <a:endParaRPr lang="ko-KR" altLang="en-US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ct val="25000"/>
              <a:buAutoNum type="arabicPeriod"/>
              <a:defRPr/>
            </a:pPr>
            <a:r>
              <a:rPr lang="ko-KR" altLang="en-US"/>
              <a:t>추가 윈도우 뷰</a:t>
            </a:r>
            <a:endParaRPr lang="ko-KR" altLang="en-US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ct val="25000"/>
              <a:buAutoNum type="alphaLcPeriod"/>
              <a:defRPr/>
            </a:pPr>
            <a:r>
              <a:rPr lang="ko-KR" altLang="en-US"/>
              <a:t>일정 추가</a:t>
            </a:r>
            <a:endParaRPr lang="ko-KR" altLang="en-US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ct val="25000"/>
              <a:buAutoNum type="alphaLcPeriod"/>
              <a:defRPr/>
            </a:pPr>
            <a:r>
              <a:rPr lang="ko-KR" altLang="en-US"/>
              <a:t>규칙 추가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6" name="Google Shape;66;p15"/>
          <p:cNvGraphicFramePr/>
          <p:nvPr/>
        </p:nvGraphicFramePr>
        <p:xfrm>
          <a:off x="252000" y="417475"/>
          <a:ext cx="8640000" cy="4549675"/>
        </p:xfrm>
        <a:graphic>
          <a:graphicData uri="http://schemas.openxmlformats.org/drawingml/2006/table">
            <a:tbl>
              <a:tblPr>
                <a:noFill/>
                <a:tableStyleId>{C35AED71-FBF5-48EC-AFBA-17D411AA58C9}</a:tableStyleId>
              </a:tblPr>
              <a:tblGrid>
                <a:gridCol w="1105825"/>
                <a:gridCol w="3214175"/>
                <a:gridCol w="1530325"/>
                <a:gridCol w="2789675"/>
              </a:tblGrid>
              <a:tr h="39147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수정 일자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수정 내용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작성자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비고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</a:tr>
              <a:tr h="51977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/>
                        <a:t>2025-12-24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초안 작성</a:t>
                      </a:r>
                      <a:endParaRPr lang="ko-KR" altLang="en-US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김상훈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/>
                        <a:t>20151225</a:t>
                      </a:r>
                      <a:r>
                        <a:rPr lang="ko-KR" altLang="en-US"/>
                        <a:t>까지 작성</a:t>
                      </a:r>
                      <a:endParaRPr lang="ko-KR" altLang="en-US"/>
                    </a:p>
                  </a:txBody>
                  <a:tcPr marL="91425" marR="91425" marT="91425" marB="91425"/>
                </a:tc>
              </a:tr>
              <a:tr h="51977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/>
                    </a:p>
                  </a:txBody>
                  <a:tcPr marL="91425" marR="91425" marT="91425" marB="91425"/>
                </a:tc>
              </a:tr>
              <a:tr h="51977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/>
                    </a:p>
                  </a:txBody>
                  <a:tcPr marL="91425" marR="91425" marT="91425" marB="91425"/>
                </a:tc>
              </a:tr>
              <a:tr h="51977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Arial"/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</a:tr>
              <a:tr h="51977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</a:tr>
              <a:tr h="51977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</a:tr>
              <a:tr h="51977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</a:tr>
              <a:tr h="51977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title" idx="0"/>
          </p:nvPr>
        </p:nvSpPr>
        <p:spPr>
          <a:xfrm>
            <a:off x="311700" y="441600"/>
            <a:ext cx="8520600" cy="4260300"/>
          </a:xfrm>
          <a:prstGeom prst="rect">
            <a:avLst/>
          </a:prstGeom>
        </p:spPr>
        <p:txBody>
          <a:bodyPr wrap="square" lIns="91424" tIns="91424" rIns="91424" bIns="91424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메인</a:t>
            </a:r>
            <a:r>
              <a:rPr lang="ko"/>
              <a:t> </a:t>
            </a:r>
            <a:r>
              <a:rPr lang="ko-KR" altLang="en-US"/>
              <a:t>윈도우 뷰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6" name="Google Shape;76;p17"/>
          <p:cNvGraphicFramePr/>
          <p:nvPr/>
        </p:nvGraphicFramePr>
        <p:xfrm>
          <a:off x="252000" y="231750"/>
          <a:ext cx="8635800" cy="4721175"/>
        </p:xfrm>
        <a:graphic>
          <a:graphicData uri="http://schemas.openxmlformats.org/drawingml/2006/table">
            <a:tbl>
              <a:tblPr>
                <a:noFill/>
                <a:tableStyleId>{C35AED71-FBF5-48EC-AFBA-17D411AA58C9}</a:tableStyleId>
              </a:tblPr>
              <a:tblGrid>
                <a:gridCol w="1725900"/>
                <a:gridCol w="1728000"/>
                <a:gridCol w="1728000"/>
                <a:gridCol w="1728000"/>
                <a:gridCol w="1725900"/>
              </a:tblGrid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제목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ID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작성자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solidFill>
                            <a:schemeClr val="dk1"/>
                          </a:solidFill>
                        </a:rPr>
                        <a:t>작성 날짜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비고</a:t>
                      </a:r>
                      <a:endParaRPr/>
                    </a:p>
                  </a:txBody>
                  <a:tcPr marL="91425" marR="91425" marT="91425" marB="91425"/>
                </a:tc>
              </a:tr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Arial"/>
                        <a:buNone/>
                        <a:defRPr/>
                      </a:pPr>
                      <a:r>
                        <a:rPr lang="ko-KR" altLang="en-US">
                          <a:solidFill>
                            <a:schemeClr val="dk1"/>
                          </a:solidFill>
                        </a:rPr>
                        <a:t>메인 윈도우 </a:t>
                      </a: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View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/>
                        <a:t>M</a:t>
                      </a:r>
                      <a:r>
                        <a:rPr lang="ko"/>
                        <a:t>-01</a:t>
                      </a:r>
                      <a:endParaRPr lang="ko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김상훈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202</a:t>
                      </a:r>
                      <a:r>
                        <a:rPr lang="en-US" altLang="ko-KR"/>
                        <a:t>5</a:t>
                      </a:r>
                      <a:r>
                        <a:rPr lang="ko"/>
                        <a:t>-</a:t>
                      </a:r>
                      <a:r>
                        <a:rPr lang="en-US" altLang="ko-KR"/>
                        <a:t>12</a:t>
                      </a:r>
                      <a:r>
                        <a:rPr lang="ko"/>
                        <a:t>-</a:t>
                      </a:r>
                      <a:r>
                        <a:rPr lang="en-US" altLang="ko-KR"/>
                        <a:t>24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 row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800"/>
                        <a:t>1.</a:t>
                      </a:r>
                      <a:r>
                        <a:rPr lang="ko-KR" altLang="en-US" sz="800"/>
                        <a:t> 메인 타이틀 바 왼쪽 끝에</a:t>
                      </a:r>
                      <a:r>
                        <a:rPr lang="en-US" altLang="ko-KR" sz="800"/>
                        <a:t> StackPanel</a:t>
                      </a:r>
                      <a:r>
                        <a:rPr lang="ko-KR" altLang="en-US" sz="800"/>
                        <a:t>로 불투명도 조절 </a:t>
                      </a:r>
                      <a:r>
                        <a:rPr lang="en-US" altLang="ko-KR" sz="800"/>
                        <a:t>Slider</a:t>
                      </a:r>
                      <a:r>
                        <a:rPr lang="ko-KR" altLang="en-US" sz="800"/>
                        <a:t>와  최소화</a:t>
                      </a:r>
                      <a:r>
                        <a:rPr lang="en-US" altLang="ko-KR" sz="800"/>
                        <a:t>,</a:t>
                      </a:r>
                      <a:r>
                        <a:rPr lang="ko-KR" altLang="en-US" sz="800"/>
                        <a:t> 최대화</a:t>
                      </a:r>
                      <a:r>
                        <a:rPr lang="en-US" altLang="ko-KR" sz="800"/>
                        <a:t>,</a:t>
                      </a:r>
                      <a:r>
                        <a:rPr lang="ko-KR" altLang="en-US" sz="800"/>
                        <a:t> 닫기 버튼 배치</a:t>
                      </a: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800"/>
                        <a:t>2.</a:t>
                      </a:r>
                      <a:r>
                        <a:rPr lang="ko-KR" altLang="en-US" sz="800"/>
                        <a:t> </a:t>
                      </a:r>
                      <a:r>
                        <a:rPr lang="en-US" altLang="ko-KR" sz="800"/>
                        <a:t>+</a:t>
                      </a:r>
                      <a:r>
                        <a:rPr lang="ko-KR" altLang="en-US" sz="800"/>
                        <a:t> 버튼 클릭시 일정 추가</a:t>
                      </a:r>
                      <a:r>
                        <a:rPr lang="en-US" altLang="ko-KR" sz="800"/>
                        <a:t>,</a:t>
                      </a:r>
                      <a:r>
                        <a:rPr lang="ko-KR" altLang="en-US" sz="800"/>
                        <a:t> 규칙 추가</a:t>
                      </a:r>
                      <a:r>
                        <a:rPr lang="en-US" altLang="ko-KR" sz="800"/>
                        <a:t>,</a:t>
                      </a:r>
                      <a:r>
                        <a:rPr lang="ko-KR" altLang="en-US" sz="800"/>
                        <a:t> 공휴일 추가</a:t>
                      </a:r>
                      <a:r>
                        <a:rPr lang="en-US" altLang="ko-KR" sz="800"/>
                        <a:t>,</a:t>
                      </a:r>
                      <a:r>
                        <a:rPr lang="ko-KR" altLang="en-US" sz="800"/>
                        <a:t> 태그 추가를 할 수 있는 버튼이 생김</a:t>
                      </a: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800"/>
                        <a:t>2-1.</a:t>
                      </a:r>
                      <a:r>
                        <a:rPr lang="ko-KR" altLang="en-US" sz="800"/>
                        <a:t> 각 버튼을 클릭시 이름에 맞는 동작을 할 수 있는 서브 윈도우 창이 띄워짐</a:t>
                      </a: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800"/>
                        <a:t>3.</a:t>
                      </a:r>
                      <a:r>
                        <a:rPr lang="ko-KR" altLang="en-US" sz="800"/>
                        <a:t> </a:t>
                      </a:r>
                      <a:r>
                        <a:rPr lang="en-US" altLang="ko-KR" sz="800"/>
                        <a:t>&lt;</a:t>
                      </a:r>
                      <a:r>
                        <a:rPr lang="ko-KR" altLang="en-US" sz="800"/>
                        <a:t>와 </a:t>
                      </a:r>
                      <a:r>
                        <a:rPr lang="en-US" altLang="ko-KR" sz="800"/>
                        <a:t>&gt;</a:t>
                      </a:r>
                      <a:r>
                        <a:rPr lang="ko-KR" altLang="en-US" sz="800"/>
                        <a:t> 버튼</a:t>
                      </a:r>
                      <a:r>
                        <a:rPr lang="en-US" altLang="ko-KR" sz="800"/>
                        <a:t>,</a:t>
                      </a:r>
                      <a:r>
                        <a:rPr lang="ko-KR" altLang="en-US" sz="800"/>
                        <a:t> 년 월이 써진 버튼을 클릭해서 달력 이동 가능</a:t>
                      </a:r>
                      <a:br>
                        <a:rPr lang="ko-KR" altLang="en-US" sz="800"/>
                      </a:b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800"/>
                        <a:t>3.</a:t>
                      </a:r>
                      <a:r>
                        <a:rPr lang="ko-KR" altLang="en-US" sz="800"/>
                        <a:t> 달력부분에 요일에 맞게끔 날짜 배치</a:t>
                      </a: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800"/>
                        <a:t>3-1.</a:t>
                      </a:r>
                      <a:r>
                        <a:rPr lang="ko-KR" altLang="en-US" sz="800"/>
                        <a:t> 공휴일은 자동으로 테두리</a:t>
                      </a:r>
                      <a:r>
                        <a:rPr lang="en-US" altLang="ko-KR" sz="800"/>
                        <a:t>,</a:t>
                      </a:r>
                      <a:r>
                        <a:rPr lang="ko-KR" altLang="en-US" sz="800"/>
                        <a:t> 글씨 빨간색으로 변경</a:t>
                      </a: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800"/>
                        <a:t>3-2.</a:t>
                      </a:r>
                      <a:r>
                        <a:rPr lang="ko-KR" altLang="en-US" sz="800"/>
                        <a:t> 날짜를 클릭하면 해당 날짜의 테두리가 진해지면서 현재 선택됐다고 표시</a:t>
                      </a: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800"/>
                        <a:t>4.</a:t>
                      </a:r>
                      <a:r>
                        <a:rPr lang="ko-KR" altLang="en-US" sz="800"/>
                        <a:t> 선택된 날짜</a:t>
                      </a:r>
                      <a:r>
                        <a:rPr lang="en-US" altLang="ko-KR" sz="800"/>
                        <a:t>(</a:t>
                      </a:r>
                      <a:r>
                        <a:rPr lang="ko-KR" altLang="en-US" sz="800"/>
                        <a:t>기본적으로 선택되는 날짜는 오늘 날짜</a:t>
                      </a:r>
                      <a:r>
                        <a:rPr lang="en-US" altLang="ko-KR" sz="800"/>
                        <a:t>)</a:t>
                      </a:r>
                      <a:r>
                        <a:rPr lang="ko-KR" altLang="en-US" sz="800"/>
                        <a:t>의 할 일이 왼쪽 </a:t>
                      </a:r>
                      <a:r>
                        <a:rPr lang="en-US" altLang="ko-KR" sz="800"/>
                        <a:t>‘</a:t>
                      </a:r>
                      <a:r>
                        <a:rPr lang="ko-KR" altLang="en-US" sz="800"/>
                        <a:t>할 일</a:t>
                      </a:r>
                      <a:r>
                        <a:rPr lang="en-US" altLang="ko-KR" sz="800"/>
                        <a:t>’ </a:t>
                      </a:r>
                      <a:r>
                        <a:rPr lang="ko-KR" altLang="en-US" sz="800"/>
                        <a:t>에 표시되고 </a:t>
                      </a:r>
                      <a:r>
                        <a:rPr lang="en-US" altLang="ko-KR" sz="800"/>
                        <a:t>CheckBox</a:t>
                      </a:r>
                      <a:r>
                        <a:rPr lang="ko-KR" altLang="en-US" sz="800"/>
                        <a:t>로 </a:t>
                      </a:r>
                      <a:r>
                        <a:rPr lang="en-US" altLang="ko-KR" sz="800"/>
                        <a:t>‘</a:t>
                      </a:r>
                      <a:r>
                        <a:rPr lang="ko-KR" altLang="en-US" sz="800"/>
                        <a:t>끝낸 일</a:t>
                      </a:r>
                      <a:r>
                        <a:rPr lang="en-US" altLang="ko-KR" sz="800"/>
                        <a:t>’</a:t>
                      </a:r>
                      <a:r>
                        <a:rPr lang="ko-KR" altLang="en-US" sz="800"/>
                        <a:t>로 변경 가능</a:t>
                      </a:r>
                      <a:r>
                        <a:rPr lang="en-US" altLang="ko-KR" sz="800"/>
                        <a:t>(</a:t>
                      </a:r>
                      <a:r>
                        <a:rPr lang="ko-KR" altLang="en-US" sz="800"/>
                        <a:t>반대로 </a:t>
                      </a:r>
                      <a:r>
                        <a:rPr lang="en-US" altLang="ko-KR" sz="800"/>
                        <a:t>‘</a:t>
                      </a:r>
                      <a:r>
                        <a:rPr lang="ko-KR" altLang="en-US" sz="800"/>
                        <a:t>끝낸 일</a:t>
                      </a:r>
                      <a:r>
                        <a:rPr lang="en-US" altLang="ko-KR" sz="800"/>
                        <a:t>’</a:t>
                      </a:r>
                      <a:r>
                        <a:rPr lang="ko-KR" altLang="en-US" sz="800"/>
                        <a:t>에서 </a:t>
                      </a:r>
                      <a:r>
                        <a:rPr lang="en-US" altLang="ko-KR" sz="800"/>
                        <a:t>CheckBox</a:t>
                      </a:r>
                      <a:r>
                        <a:rPr lang="ko-KR" altLang="en-US" sz="800"/>
                        <a:t> 클릭시 </a:t>
                      </a:r>
                      <a:r>
                        <a:rPr lang="en-US" altLang="ko-KR" sz="800"/>
                        <a:t>‘</a:t>
                      </a:r>
                      <a:r>
                        <a:rPr lang="ko-KR" altLang="en-US" sz="800"/>
                        <a:t>할 일</a:t>
                      </a:r>
                      <a:r>
                        <a:rPr lang="en-US" altLang="ko-KR" sz="800"/>
                        <a:t>’</a:t>
                      </a:r>
                      <a:r>
                        <a:rPr lang="ko-KR" altLang="en-US" sz="800"/>
                        <a:t>로 다시 이동</a:t>
                      </a:r>
                      <a:r>
                        <a:rPr lang="en-US" altLang="ko-KR" sz="800"/>
                        <a:t>)</a:t>
                      </a:r>
                      <a:endParaRPr lang="en-US" altLang="ko-KR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800"/>
                        <a:t>*</a:t>
                      </a:r>
                      <a:r>
                        <a:rPr lang="ko-KR" altLang="en-US" sz="800"/>
                        <a:t> 추후 업데이트 예정</a:t>
                      </a:r>
                      <a:endParaRPr lang="ko-KR" altLang="en-US"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800"/>
                        <a:t>1.</a:t>
                      </a:r>
                      <a:r>
                        <a:rPr lang="ko-KR" altLang="en-US" sz="800"/>
                        <a:t> 끝낸 일을 클릭으로 최소화시킬 수 있게 만들기</a:t>
                      </a:r>
                      <a:endParaRPr lang="en-US" altLang="ko-KR" sz="800"/>
                    </a:p>
                  </a:txBody>
                  <a:tcPr marL="91425" marR="91425" marT="91425" marB="91425"/>
                </a:tc>
              </a:tr>
              <a:tr h="385425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상세</a:t>
                      </a: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  <a:tr h="1759700">
                <a:tc rowSpan="2"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 rowSpan="2"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rowSpan="2"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rowSpan="2"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  <a:tr h="1759700">
                <a:tc gridSpan="4"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77" name="Google Shape;77;p17"/>
          <p:cNvSpPr/>
          <p:nvPr/>
        </p:nvSpPr>
        <p:spPr>
          <a:xfrm>
            <a:off x="750675" y="1543075"/>
            <a:ext cx="5760000" cy="32400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8" name="Google Shape;78;p17"/>
          <p:cNvSpPr/>
          <p:nvPr/>
        </p:nvSpPr>
        <p:spPr>
          <a:xfrm>
            <a:off x="870005" y="2286036"/>
            <a:ext cx="1179108" cy="1149033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할 일</a:t>
            </a:r>
            <a:endParaRPr lang="ko-KR" altLang="en-US"/>
          </a:p>
        </p:txBody>
      </p:sp>
      <p:sp>
        <p:nvSpPr>
          <p:cNvPr id="80" name="Google Shape;80;p17"/>
          <p:cNvSpPr/>
          <p:nvPr/>
        </p:nvSpPr>
        <p:spPr>
          <a:xfrm>
            <a:off x="2166742" y="2268950"/>
            <a:ext cx="4190067" cy="2397866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83" name="Google Shape;83;p17"/>
          <p:cNvSpPr/>
          <p:nvPr/>
        </p:nvSpPr>
        <p:spPr>
          <a:xfrm>
            <a:off x="758376" y="1535673"/>
            <a:ext cx="5753443" cy="42937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메인 타이틀 바</a:t>
            </a:r>
            <a:endParaRPr lang="ko-KR" altLang="en-US"/>
          </a:p>
        </p:txBody>
      </p:sp>
      <p:sp>
        <p:nvSpPr>
          <p:cNvPr id="84" name="Google Shape;78;p17"/>
          <p:cNvSpPr/>
          <p:nvPr/>
        </p:nvSpPr>
        <p:spPr>
          <a:xfrm>
            <a:off x="879530" y="3507353"/>
            <a:ext cx="1179108" cy="1149033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끝낸 일</a:t>
            </a:r>
            <a:endParaRPr lang="ko-KR" altLang="en-US"/>
          </a:p>
        </p:txBody>
      </p:sp>
      <p:sp>
        <p:nvSpPr>
          <p:cNvPr id="86" name="Google Shape;83;p17"/>
          <p:cNvSpPr/>
          <p:nvPr/>
        </p:nvSpPr>
        <p:spPr>
          <a:xfrm>
            <a:off x="6138943" y="1613989"/>
            <a:ext cx="287152" cy="27062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 sz="1000"/>
              <a:t>X</a:t>
            </a:r>
            <a:endParaRPr lang="en-US" altLang="ko-KR" sz="1000"/>
          </a:p>
        </p:txBody>
      </p:sp>
      <p:sp>
        <p:nvSpPr>
          <p:cNvPr id="87" name="Google Shape;83;p17"/>
          <p:cNvSpPr/>
          <p:nvPr/>
        </p:nvSpPr>
        <p:spPr>
          <a:xfrm>
            <a:off x="5793926" y="1612931"/>
            <a:ext cx="287152" cy="27062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ㅁ</a:t>
            </a:r>
            <a:endParaRPr lang="ko-KR" altLang="en-US" sz="1000"/>
          </a:p>
        </p:txBody>
      </p:sp>
      <p:sp>
        <p:nvSpPr>
          <p:cNvPr id="88" name="Google Shape;83;p17"/>
          <p:cNvSpPr/>
          <p:nvPr/>
        </p:nvSpPr>
        <p:spPr>
          <a:xfrm>
            <a:off x="5428801" y="1607639"/>
            <a:ext cx="287152" cy="27062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 sz="1000"/>
              <a:t>_</a:t>
            </a:r>
            <a:endParaRPr lang="en-US" altLang="ko-KR" sz="1000"/>
          </a:p>
        </p:txBody>
      </p:sp>
      <p:sp>
        <p:nvSpPr>
          <p:cNvPr id="89" name="Google Shape;83;p17"/>
          <p:cNvSpPr/>
          <p:nvPr/>
        </p:nvSpPr>
        <p:spPr>
          <a:xfrm>
            <a:off x="4350360" y="1698653"/>
            <a:ext cx="953902" cy="74831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90" name="Google Shape;83;p17"/>
          <p:cNvSpPr/>
          <p:nvPr/>
        </p:nvSpPr>
        <p:spPr>
          <a:xfrm>
            <a:off x="4872119" y="1601289"/>
            <a:ext cx="176027" cy="27062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en-US" altLang="ko-KR" sz="1000"/>
          </a:p>
        </p:txBody>
      </p:sp>
      <p:sp>
        <p:nvSpPr>
          <p:cNvPr id="91" name="Google Shape;83;p17"/>
          <p:cNvSpPr/>
          <p:nvPr/>
        </p:nvSpPr>
        <p:spPr>
          <a:xfrm>
            <a:off x="2249568" y="2348754"/>
            <a:ext cx="530567" cy="286495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>
                <a:solidFill>
                  <a:srgbClr val="ff0000"/>
                </a:solidFill>
              </a:rPr>
              <a:t>일</a:t>
            </a:r>
            <a:endParaRPr lang="ko-KR" altLang="en-US" sz="1000">
              <a:solidFill>
                <a:srgbClr val="ff0000"/>
              </a:solidFill>
            </a:endParaRPr>
          </a:p>
        </p:txBody>
      </p:sp>
      <p:sp>
        <p:nvSpPr>
          <p:cNvPr id="92" name="Google Shape;83;p17"/>
          <p:cNvSpPr/>
          <p:nvPr/>
        </p:nvSpPr>
        <p:spPr>
          <a:xfrm>
            <a:off x="2825301" y="2353765"/>
            <a:ext cx="530567" cy="286495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월</a:t>
            </a:r>
            <a:endParaRPr lang="ko-KR" altLang="en-US" sz="1000"/>
          </a:p>
        </p:txBody>
      </p:sp>
      <p:sp>
        <p:nvSpPr>
          <p:cNvPr id="93" name="Google Shape;83;p17"/>
          <p:cNvSpPr/>
          <p:nvPr/>
        </p:nvSpPr>
        <p:spPr>
          <a:xfrm>
            <a:off x="3412677" y="2359056"/>
            <a:ext cx="530567" cy="286495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화</a:t>
            </a:r>
            <a:endParaRPr lang="ko-KR" altLang="en-US" sz="1000"/>
          </a:p>
        </p:txBody>
      </p:sp>
      <p:sp>
        <p:nvSpPr>
          <p:cNvPr id="94" name="Google Shape;83;p17"/>
          <p:cNvSpPr/>
          <p:nvPr/>
        </p:nvSpPr>
        <p:spPr>
          <a:xfrm>
            <a:off x="3983224" y="2364348"/>
            <a:ext cx="530567" cy="286495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수</a:t>
            </a:r>
            <a:endParaRPr lang="ko-KR" altLang="en-US" sz="1000"/>
          </a:p>
        </p:txBody>
      </p:sp>
      <p:sp>
        <p:nvSpPr>
          <p:cNvPr id="95" name="Google Shape;83;p17"/>
          <p:cNvSpPr/>
          <p:nvPr/>
        </p:nvSpPr>
        <p:spPr>
          <a:xfrm>
            <a:off x="4572000" y="2369640"/>
            <a:ext cx="530567" cy="286495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목</a:t>
            </a:r>
            <a:endParaRPr lang="ko-KR" altLang="en-US" sz="1000"/>
          </a:p>
        </p:txBody>
      </p:sp>
      <p:sp>
        <p:nvSpPr>
          <p:cNvPr id="96" name="Google Shape;83;p17"/>
          <p:cNvSpPr/>
          <p:nvPr/>
        </p:nvSpPr>
        <p:spPr>
          <a:xfrm>
            <a:off x="5174802" y="2364629"/>
            <a:ext cx="530567" cy="286495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금</a:t>
            </a:r>
            <a:endParaRPr lang="ko-KR" altLang="en-US" sz="1000"/>
          </a:p>
        </p:txBody>
      </p:sp>
      <p:sp>
        <p:nvSpPr>
          <p:cNvPr id="97" name="Google Shape;83;p17"/>
          <p:cNvSpPr/>
          <p:nvPr/>
        </p:nvSpPr>
        <p:spPr>
          <a:xfrm>
            <a:off x="5767469" y="2364629"/>
            <a:ext cx="530567" cy="286495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>
                <a:solidFill>
                  <a:srgbClr val="3057b9"/>
                </a:solidFill>
              </a:rPr>
              <a:t>토</a:t>
            </a:r>
            <a:endParaRPr lang="ko-KR" altLang="en-US" sz="1000">
              <a:solidFill>
                <a:srgbClr val="3057b9"/>
              </a:solidFill>
            </a:endParaRPr>
          </a:p>
        </p:txBody>
      </p:sp>
      <p:sp>
        <p:nvSpPr>
          <p:cNvPr id="98" name="Google Shape;80;p17"/>
          <p:cNvSpPr/>
          <p:nvPr/>
        </p:nvSpPr>
        <p:spPr>
          <a:xfrm>
            <a:off x="2260934" y="2714625"/>
            <a:ext cx="3983692" cy="1863408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달력</a:t>
            </a:r>
            <a:endParaRPr lang="ko-KR" altLang="en-US"/>
          </a:p>
        </p:txBody>
      </p:sp>
      <p:sp>
        <p:nvSpPr>
          <p:cNvPr id="99" name="Google Shape;83;p17"/>
          <p:cNvSpPr/>
          <p:nvPr/>
        </p:nvSpPr>
        <p:spPr>
          <a:xfrm>
            <a:off x="891922" y="2000869"/>
            <a:ext cx="216268" cy="226317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 sz="1000"/>
              <a:t>+</a:t>
            </a:r>
            <a:endParaRPr lang="en-US" altLang="ko-KR" sz="1000"/>
          </a:p>
        </p:txBody>
      </p:sp>
      <p:sp>
        <p:nvSpPr>
          <p:cNvPr id="101" name="Google Shape;83;p17"/>
          <p:cNvSpPr/>
          <p:nvPr/>
        </p:nvSpPr>
        <p:spPr>
          <a:xfrm>
            <a:off x="3002485" y="1998211"/>
            <a:ext cx="216268" cy="226317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 sz="1000"/>
              <a:t>&lt;</a:t>
            </a:r>
            <a:endParaRPr lang="en-US" altLang="ko-KR" sz="1000"/>
          </a:p>
        </p:txBody>
      </p:sp>
      <p:sp>
        <p:nvSpPr>
          <p:cNvPr id="102" name="Google Shape;83;p17"/>
          <p:cNvSpPr/>
          <p:nvPr/>
        </p:nvSpPr>
        <p:spPr>
          <a:xfrm>
            <a:off x="4355731" y="1998211"/>
            <a:ext cx="216268" cy="226317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 sz="1000"/>
              <a:t>&gt;</a:t>
            </a:r>
            <a:endParaRPr lang="en-US" altLang="ko-KR" sz="1000"/>
          </a:p>
        </p:txBody>
      </p:sp>
      <p:sp>
        <p:nvSpPr>
          <p:cNvPr id="103" name="Google Shape;83;p17"/>
          <p:cNvSpPr/>
          <p:nvPr/>
        </p:nvSpPr>
        <p:spPr>
          <a:xfrm>
            <a:off x="3301082" y="1999983"/>
            <a:ext cx="947257" cy="226317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 sz="1000"/>
              <a:t>2025</a:t>
            </a:r>
            <a:r>
              <a:rPr lang="ko-KR" altLang="en-US" sz="1000"/>
              <a:t>년 </a:t>
            </a:r>
            <a:r>
              <a:rPr lang="en-US" altLang="ko-KR" sz="1000"/>
              <a:t>12</a:t>
            </a:r>
            <a:r>
              <a:rPr lang="ko-KR" altLang="en-US" sz="1000"/>
              <a:t>월</a:t>
            </a:r>
            <a:endParaRPr lang="ko-KR" alt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2"/>
          <p:cNvSpPr txBox="1">
            <a:spLocks noGrp="1"/>
          </p:cNvSpPr>
          <p:nvPr>
            <p:ph type="title" idx="0"/>
          </p:nvPr>
        </p:nvSpPr>
        <p:spPr>
          <a:xfrm>
            <a:off x="311700" y="441600"/>
            <a:ext cx="8520600" cy="4260300"/>
          </a:xfrm>
          <a:prstGeom prst="rect">
            <a:avLst/>
          </a:prstGeom>
        </p:spPr>
        <p:txBody>
          <a:bodyPr wrap="square" lIns="91424" tIns="91424" rIns="91424" bIns="91424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추가 윈도우 뷰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" name="Google Shape;137;p23"/>
          <p:cNvGraphicFramePr/>
          <p:nvPr/>
        </p:nvGraphicFramePr>
        <p:xfrm>
          <a:off x="252000" y="231750"/>
          <a:ext cx="8640000" cy="4689625"/>
        </p:xfrm>
        <a:graphic>
          <a:graphicData uri="http://schemas.openxmlformats.org/drawingml/2006/table">
            <a:tbl>
              <a:tblPr>
                <a:noFill/>
                <a:tableStyleId>{C35AED71-FBF5-48EC-AFBA-17D411AA58C9}</a:tableStyleId>
              </a:tblPr>
              <a:tblGrid>
                <a:gridCol w="1728000"/>
                <a:gridCol w="1728000"/>
                <a:gridCol w="1728000"/>
                <a:gridCol w="1728000"/>
                <a:gridCol w="1728000"/>
              </a:tblGrid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제목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ID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작성자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solidFill>
                            <a:schemeClr val="dk1"/>
                          </a:solidFill>
                        </a:rPr>
                        <a:t>작성 날짜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비고</a:t>
                      </a:r>
                      <a:endParaRPr/>
                    </a:p>
                  </a:txBody>
                  <a:tcPr marL="91425" marR="91425" marT="91425" marB="91425"/>
                </a:tc>
              </a:tr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일정 추가 뷰</a:t>
                      </a:r>
                      <a:endParaRPr lang="ko-KR" altLang="en-US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/>
                        <a:t>S</a:t>
                      </a:r>
                      <a:r>
                        <a:rPr lang="ko"/>
                        <a:t>-01</a:t>
                      </a:r>
                      <a:endParaRPr lang="ko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김상훈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202</a:t>
                      </a:r>
                      <a:r>
                        <a:rPr lang="en-US" altLang="ko-KR"/>
                        <a:t>5-12-24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 rowSpan="3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 sz="900"/>
                        <a:t>제목과 내용 박스는 </a:t>
                      </a:r>
                      <a:r>
                        <a:rPr lang="en-US" altLang="ko-KR" sz="900"/>
                        <a:t>TextBox</a:t>
                      </a: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 sz="900"/>
                        <a:t>날짜 박스는 클릭하면 달력에서 날짜를 선택 가능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*</a:t>
                      </a:r>
                      <a:r>
                        <a:rPr lang="ko-KR" altLang="en-US" sz="900"/>
                        <a:t> 추후 업데이트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 sz="900"/>
                        <a:t>시간과 알람 받는 시간도 입력하여 카카오톡 알림처럼 윈도우 시계쪽에서 위로 올라오는 알람 표시 기능도 만들어보기</a:t>
                      </a:r>
                      <a:endParaRPr lang="ko-KR" altLang="en-US" sz="900"/>
                    </a:p>
                  </a:txBody>
                  <a:tcPr marL="91425" marR="91425" marT="91425" marB="91425"/>
                </a:tc>
              </a:tr>
              <a:tr h="385425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상세</a:t>
                      </a: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  <a:tr h="3519400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138" name="Google Shape;138;p23"/>
          <p:cNvSpPr/>
          <p:nvPr/>
        </p:nvSpPr>
        <p:spPr>
          <a:xfrm>
            <a:off x="2735050" y="1511325"/>
            <a:ext cx="2537374" cy="3245294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7" name="Google Shape;138;p23"/>
          <p:cNvSpPr/>
          <p:nvPr/>
        </p:nvSpPr>
        <p:spPr>
          <a:xfrm>
            <a:off x="2739283" y="1503916"/>
            <a:ext cx="2532082" cy="303124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일정 추가</a:t>
            </a:r>
            <a:endParaRPr lang="ko-KR" altLang="en-US"/>
          </a:p>
        </p:txBody>
      </p:sp>
      <p:sp>
        <p:nvSpPr>
          <p:cNvPr id="149" name=""/>
          <p:cNvSpPr txBox="1"/>
          <p:nvPr/>
        </p:nvSpPr>
        <p:spPr>
          <a:xfrm>
            <a:off x="2860144" y="1910291"/>
            <a:ext cx="641246" cy="297604"/>
          </a:xfrm>
          <a:prstGeom prst="rect">
            <a:avLst/>
          </a:prstGeom>
        </p:spPr>
        <p:txBody>
          <a:bodyPr wrap="none">
            <a:spAutoFit/>
          </a:bodyPr>
          <a:p>
            <a:pPr>
              <a:defRPr/>
            </a:pPr>
            <a:r>
              <a:rPr lang="ko-KR" altLang="en-US"/>
              <a:t>제목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50" name=""/>
          <p:cNvSpPr txBox="1"/>
          <p:nvPr/>
        </p:nvSpPr>
        <p:spPr>
          <a:xfrm>
            <a:off x="2865435" y="2213820"/>
            <a:ext cx="647596" cy="299721"/>
          </a:xfrm>
          <a:prstGeom prst="rect">
            <a:avLst/>
          </a:prstGeom>
        </p:spPr>
        <p:txBody>
          <a:bodyPr wrap="none">
            <a:spAutoFit/>
          </a:bodyPr>
          <a:p>
            <a:pPr>
              <a:defRPr/>
            </a:pPr>
            <a:r>
              <a:rPr lang="ko-KR" altLang="en-US"/>
              <a:t>날짜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51" name=""/>
          <p:cNvSpPr txBox="1"/>
          <p:nvPr/>
        </p:nvSpPr>
        <p:spPr>
          <a:xfrm>
            <a:off x="2886604" y="2571750"/>
            <a:ext cx="541761" cy="298662"/>
          </a:xfrm>
          <a:prstGeom prst="rect">
            <a:avLst/>
          </a:prstGeom>
        </p:spPr>
        <p:txBody>
          <a:bodyPr wrap="none">
            <a:spAutoFit/>
          </a:bodyPr>
          <a:p>
            <a:pPr>
              <a:defRPr/>
            </a:pPr>
            <a:r>
              <a:rPr lang="ko-KR" altLang="en-US"/>
              <a:t>내용</a:t>
            </a:r>
            <a:endParaRPr lang="ko-KR" altLang="en-US"/>
          </a:p>
        </p:txBody>
      </p:sp>
      <p:sp>
        <p:nvSpPr>
          <p:cNvPr id="152" name="Google Shape;138;p23"/>
          <p:cNvSpPr/>
          <p:nvPr/>
        </p:nvSpPr>
        <p:spPr>
          <a:xfrm>
            <a:off x="2960475" y="2852233"/>
            <a:ext cx="2098166" cy="149904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53" name="Google Shape;138;p23"/>
          <p:cNvSpPr/>
          <p:nvPr/>
        </p:nvSpPr>
        <p:spPr>
          <a:xfrm>
            <a:off x="4056042" y="4449258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등록</a:t>
            </a:r>
            <a:endParaRPr lang="ko-KR" altLang="en-US" sz="1000"/>
          </a:p>
        </p:txBody>
      </p:sp>
      <p:sp>
        <p:nvSpPr>
          <p:cNvPr id="154" name="Google Shape;138;p23"/>
          <p:cNvSpPr/>
          <p:nvPr/>
        </p:nvSpPr>
        <p:spPr>
          <a:xfrm>
            <a:off x="4641108" y="4448200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취소</a:t>
            </a:r>
            <a:endParaRPr lang="ko-KR" altLang="en-US" sz="1000"/>
          </a:p>
        </p:txBody>
      </p:sp>
      <p:sp>
        <p:nvSpPr>
          <p:cNvPr id="155" name="Google Shape;138;p23"/>
          <p:cNvSpPr/>
          <p:nvPr/>
        </p:nvSpPr>
        <p:spPr>
          <a:xfrm>
            <a:off x="3472708" y="2268626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56" name="Google Shape;138;p23"/>
          <p:cNvSpPr/>
          <p:nvPr/>
        </p:nvSpPr>
        <p:spPr>
          <a:xfrm>
            <a:off x="3466359" y="1944776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" name="Google Shape;137;p23"/>
          <p:cNvGraphicFramePr/>
          <p:nvPr/>
        </p:nvGraphicFramePr>
        <p:xfrm>
          <a:off x="252000" y="231750"/>
          <a:ext cx="8637900" cy="4689625"/>
        </p:xfrm>
        <a:graphic>
          <a:graphicData uri="http://schemas.openxmlformats.org/drawingml/2006/table">
            <a:tbl>
              <a:tblPr>
                <a:noFill/>
                <a:tableStyleId>{C35AED71-FBF5-48EC-AFBA-17D411AA58C9}</a:tableStyleId>
              </a:tblPr>
              <a:tblGrid>
                <a:gridCol w="1725900"/>
                <a:gridCol w="1728000"/>
                <a:gridCol w="1728000"/>
                <a:gridCol w="1728000"/>
                <a:gridCol w="1728000"/>
              </a:tblGrid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제목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ID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작성자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solidFill>
                            <a:schemeClr val="dk1"/>
                          </a:solidFill>
                        </a:rPr>
                        <a:t>작성 날짜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비고</a:t>
                      </a:r>
                      <a:endParaRPr/>
                    </a:p>
                  </a:txBody>
                  <a:tcPr marL="91425" marR="91425" marT="91425" marB="91425"/>
                </a:tc>
              </a:tr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규칙 추가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일간</a:t>
                      </a:r>
                      <a:r>
                        <a:rPr lang="en-US" altLang="ko-KR"/>
                        <a:t>)</a:t>
                      </a:r>
                      <a:r>
                        <a:rPr lang="ko-KR" altLang="en-US"/>
                        <a:t> 뷰</a:t>
                      </a:r>
                      <a:endParaRPr lang="ko-KR" altLang="en-US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/>
                        <a:t>S</a:t>
                      </a:r>
                      <a:r>
                        <a:rPr lang="ko"/>
                        <a:t>-0</a:t>
                      </a:r>
                      <a:r>
                        <a:rPr lang="en-US" altLang="ko-KR"/>
                        <a:t>2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김상훈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202</a:t>
                      </a:r>
                      <a:r>
                        <a:rPr lang="en-US" altLang="ko-KR"/>
                        <a:t>5-12-25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 rowSpan="3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 sz="900"/>
                        <a:t>일간</a:t>
                      </a:r>
                      <a:r>
                        <a:rPr lang="en-US" altLang="ko-KR" sz="900"/>
                        <a:t>,</a:t>
                      </a:r>
                      <a:r>
                        <a:rPr lang="ko-KR" altLang="en-US" sz="900"/>
                        <a:t> 주간</a:t>
                      </a:r>
                      <a:r>
                        <a:rPr lang="en-US" altLang="ko-KR" sz="900"/>
                        <a:t>,</a:t>
                      </a:r>
                      <a:r>
                        <a:rPr lang="ko-KR" altLang="en-US" sz="900"/>
                        <a:t> 월간</a:t>
                      </a:r>
                      <a:r>
                        <a:rPr lang="en-US" altLang="ko-KR" sz="900"/>
                        <a:t>,</a:t>
                      </a:r>
                      <a:r>
                        <a:rPr lang="ko-KR" altLang="en-US" sz="900"/>
                        <a:t> 연간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Radio</a:t>
                      </a:r>
                      <a:r>
                        <a:rPr lang="ko-KR" altLang="en-US" sz="900"/>
                        <a:t>를 선택시 아래에 동적으로 설정 창이 생성됨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기본적으로 일간 선택됨</a:t>
                      </a:r>
                      <a:r>
                        <a:rPr lang="en-US" altLang="ko-KR" sz="900"/>
                        <a:t>)</a:t>
                      </a: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1.</a:t>
                      </a:r>
                      <a:r>
                        <a:rPr lang="ko-KR" altLang="en-US" sz="900"/>
                        <a:t>제목은 필수로 입력해야함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2.</a:t>
                      </a:r>
                      <a:r>
                        <a:rPr lang="ko-KR" altLang="en-US" sz="900"/>
                        <a:t>시작 날짜는 기본적으로 오늘 날짜로 입력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3.</a:t>
                      </a:r>
                      <a:r>
                        <a:rPr lang="ko-KR" altLang="en-US" sz="900"/>
                        <a:t>종료 날짜를 입력하면 해당 날짜까지만 규칙이 생성되고 기한 없음을 체크하면 종료 날짜 없이 무한정 규칙이 생성됨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기본적으로 기한없음이 체크됨</a:t>
                      </a:r>
                      <a:r>
                        <a:rPr lang="en-US" altLang="ko-KR" sz="900"/>
                        <a:t>)</a:t>
                      </a: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4.</a:t>
                      </a:r>
                      <a:r>
                        <a:rPr lang="ko-KR" altLang="en-US" sz="900"/>
                        <a:t>내용은 입력 안해도 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*</a:t>
                      </a:r>
                      <a:r>
                        <a:rPr lang="ko-KR" altLang="en-US" sz="900"/>
                        <a:t> 추후 업데이트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 sz="900"/>
                        <a:t>알람 받는 시간도 입력하여 카카오톡 알림처럼 윈도우 시계쪽에서 위로 올라오는 알람 표시 기능도 만들어보기</a:t>
                      </a:r>
                      <a:br>
                        <a:rPr lang="ko-KR" altLang="en-US" sz="900"/>
                      </a:br>
                      <a:endParaRPr lang="ko-KR" altLang="en-US" sz="900"/>
                    </a:p>
                  </a:txBody>
                  <a:tcPr marL="91425" marR="91425" marT="91425" marB="91425"/>
                </a:tc>
              </a:tr>
              <a:tr h="385425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상세</a:t>
                      </a: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  <a:tr h="3519400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198" name="Google Shape;138;p23"/>
          <p:cNvSpPr/>
          <p:nvPr/>
        </p:nvSpPr>
        <p:spPr>
          <a:xfrm>
            <a:off x="1172950" y="1511325"/>
            <a:ext cx="5139060" cy="3245294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9" name="Google Shape;138;p23"/>
          <p:cNvSpPr/>
          <p:nvPr/>
        </p:nvSpPr>
        <p:spPr>
          <a:xfrm>
            <a:off x="1180440" y="1503916"/>
            <a:ext cx="5128341" cy="303124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규칙 추가</a:t>
            </a:r>
            <a:endParaRPr lang="ko-KR" altLang="en-US"/>
          </a:p>
        </p:txBody>
      </p:sp>
      <p:sp>
        <p:nvSpPr>
          <p:cNvPr id="149" name=""/>
          <p:cNvSpPr txBox="1"/>
          <p:nvPr/>
        </p:nvSpPr>
        <p:spPr>
          <a:xfrm>
            <a:off x="1341586" y="1909507"/>
            <a:ext cx="645329" cy="29838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제목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53" name="Google Shape;138;p23"/>
          <p:cNvSpPr/>
          <p:nvPr/>
        </p:nvSpPr>
        <p:spPr>
          <a:xfrm>
            <a:off x="5073855" y="4443815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등록</a:t>
            </a:r>
            <a:endParaRPr lang="ko-KR" altLang="en-US" sz="1000"/>
          </a:p>
        </p:txBody>
      </p:sp>
      <p:sp>
        <p:nvSpPr>
          <p:cNvPr id="154" name="Google Shape;138;p23"/>
          <p:cNvSpPr/>
          <p:nvPr/>
        </p:nvSpPr>
        <p:spPr>
          <a:xfrm>
            <a:off x="5658921" y="4442757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취소</a:t>
            </a:r>
            <a:endParaRPr lang="ko-KR" altLang="en-US" sz="1000"/>
          </a:p>
        </p:txBody>
      </p:sp>
      <p:sp>
        <p:nvSpPr>
          <p:cNvPr id="156" name="Google Shape;138;p23"/>
          <p:cNvSpPr/>
          <p:nvPr/>
        </p:nvSpPr>
        <p:spPr>
          <a:xfrm>
            <a:off x="1947801" y="1943992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57" name=""/>
          <p:cNvSpPr/>
          <p:nvPr/>
        </p:nvSpPr>
        <p:spPr>
          <a:xfrm>
            <a:off x="1465821" y="2262896"/>
            <a:ext cx="158750" cy="158750"/>
          </a:xfrm>
          <a:prstGeom prst="ellipse">
            <a:avLst/>
          </a:prstGeom>
          <a:solidFill>
            <a:srgbClr val="008000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58" name=""/>
          <p:cNvSpPr/>
          <p:nvPr/>
        </p:nvSpPr>
        <p:spPr>
          <a:xfrm>
            <a:off x="1956888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59" name=""/>
          <p:cNvSpPr/>
          <p:nvPr/>
        </p:nvSpPr>
        <p:spPr>
          <a:xfrm>
            <a:off x="2488700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60" name=""/>
          <p:cNvSpPr/>
          <p:nvPr/>
        </p:nvSpPr>
        <p:spPr>
          <a:xfrm>
            <a:off x="3028451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61" name=""/>
          <p:cNvSpPr txBox="1"/>
          <p:nvPr/>
        </p:nvSpPr>
        <p:spPr>
          <a:xfrm>
            <a:off x="2330015" y="2421647"/>
            <a:ext cx="544085" cy="300598"/>
          </a:xfrm>
          <a:prstGeom prst="rect">
            <a:avLst/>
          </a:prstGeom>
        </p:spPr>
        <p:txBody>
          <a:bodyPr wrap="none">
            <a:spAutoFit/>
          </a:bodyPr>
          <a:p>
            <a:pPr>
              <a:defRPr/>
            </a:pPr>
            <a:r>
              <a:rPr lang="ko-KR" altLang="en-US"/>
              <a:t>월간</a:t>
            </a:r>
            <a:endParaRPr lang="ko-KR" altLang="en-US"/>
          </a:p>
        </p:txBody>
      </p:sp>
      <p:sp>
        <p:nvSpPr>
          <p:cNvPr id="162" name=""/>
          <p:cNvSpPr txBox="1"/>
          <p:nvPr/>
        </p:nvSpPr>
        <p:spPr>
          <a:xfrm>
            <a:off x="1772584" y="2421647"/>
            <a:ext cx="539541" cy="300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주간</a:t>
            </a:r>
            <a:endParaRPr lang="ko-KR" altLang="en-US"/>
          </a:p>
        </p:txBody>
      </p:sp>
      <p:sp>
        <p:nvSpPr>
          <p:cNvPr id="163" name=""/>
          <p:cNvSpPr txBox="1"/>
          <p:nvPr/>
        </p:nvSpPr>
        <p:spPr>
          <a:xfrm>
            <a:off x="1268319" y="2421647"/>
            <a:ext cx="544423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일간</a:t>
            </a:r>
            <a:endParaRPr lang="ko-KR" altLang="en-US"/>
          </a:p>
        </p:txBody>
      </p:sp>
      <p:sp>
        <p:nvSpPr>
          <p:cNvPr id="164" name=""/>
          <p:cNvSpPr txBox="1"/>
          <p:nvPr/>
        </p:nvSpPr>
        <p:spPr>
          <a:xfrm>
            <a:off x="2868113" y="2421647"/>
            <a:ext cx="544830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연간</a:t>
            </a:r>
            <a:endParaRPr lang="ko-KR" altLang="en-US"/>
          </a:p>
        </p:txBody>
      </p:sp>
      <p:sp>
        <p:nvSpPr>
          <p:cNvPr id="190" name=""/>
          <p:cNvSpPr txBox="1"/>
          <p:nvPr/>
        </p:nvSpPr>
        <p:spPr>
          <a:xfrm>
            <a:off x="1265386" y="2695319"/>
            <a:ext cx="993672" cy="2976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시작날짜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91" name="Google Shape;138;p23"/>
          <p:cNvSpPr/>
          <p:nvPr/>
        </p:nvSpPr>
        <p:spPr>
          <a:xfrm>
            <a:off x="2186923" y="2725042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92" name=""/>
          <p:cNvSpPr txBox="1"/>
          <p:nvPr/>
        </p:nvSpPr>
        <p:spPr>
          <a:xfrm>
            <a:off x="1260622" y="2971543"/>
            <a:ext cx="998436" cy="297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종료날짜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93" name="Google Shape;138;p23"/>
          <p:cNvSpPr/>
          <p:nvPr/>
        </p:nvSpPr>
        <p:spPr>
          <a:xfrm>
            <a:off x="2182160" y="3001267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94" name=""/>
          <p:cNvSpPr txBox="1"/>
          <p:nvPr/>
        </p:nvSpPr>
        <p:spPr>
          <a:xfrm>
            <a:off x="2579520" y="3271579"/>
            <a:ext cx="950445" cy="29839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기한없음 </a:t>
            </a:r>
            <a:endParaRPr lang="ko-KR" altLang="en-US"/>
          </a:p>
        </p:txBody>
      </p:sp>
      <p:sp>
        <p:nvSpPr>
          <p:cNvPr id="195" name="Google Shape;138;p23"/>
          <p:cNvSpPr/>
          <p:nvPr/>
        </p:nvSpPr>
        <p:spPr>
          <a:xfrm>
            <a:off x="3419457" y="3344167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97" name="Google Shape;138;p23"/>
          <p:cNvSpPr/>
          <p:nvPr/>
        </p:nvSpPr>
        <p:spPr>
          <a:xfrm>
            <a:off x="1311289" y="3566607"/>
            <a:ext cx="2311798" cy="875833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내용 입력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" name="Google Shape;137;p23"/>
          <p:cNvGraphicFramePr/>
          <p:nvPr/>
        </p:nvGraphicFramePr>
        <p:xfrm>
          <a:off x="252000" y="231750"/>
          <a:ext cx="8635800" cy="4689625"/>
        </p:xfrm>
        <a:graphic>
          <a:graphicData uri="http://schemas.openxmlformats.org/drawingml/2006/table">
            <a:tbl>
              <a:tblPr>
                <a:noFill/>
                <a:tableStyleId>{C35AED71-FBF5-48EC-AFBA-17D411AA58C9}</a:tableStyleId>
              </a:tblPr>
              <a:tblGrid>
                <a:gridCol w="1725900"/>
                <a:gridCol w="1728000"/>
                <a:gridCol w="1728000"/>
                <a:gridCol w="1728000"/>
                <a:gridCol w="1725900"/>
              </a:tblGrid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제목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ID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작성자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solidFill>
                            <a:schemeClr val="dk1"/>
                          </a:solidFill>
                        </a:rPr>
                        <a:t>작성 날짜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비고</a:t>
                      </a:r>
                      <a:endParaRPr/>
                    </a:p>
                  </a:txBody>
                  <a:tcPr marL="91425" marR="91425" marT="91425" marB="91425"/>
                </a:tc>
              </a:tr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규칙 추가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주간</a:t>
                      </a:r>
                      <a:r>
                        <a:rPr lang="en-US" altLang="ko-KR"/>
                        <a:t>)</a:t>
                      </a:r>
                      <a:r>
                        <a:rPr lang="ko-KR" altLang="en-US"/>
                        <a:t> 뷰</a:t>
                      </a:r>
                      <a:endParaRPr lang="ko-KR" altLang="en-US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/>
                        <a:t>S</a:t>
                      </a:r>
                      <a:r>
                        <a:rPr lang="ko"/>
                        <a:t>-0</a:t>
                      </a:r>
                      <a:r>
                        <a:rPr lang="en-US" altLang="ko-KR"/>
                        <a:t>3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김상훈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202</a:t>
                      </a:r>
                      <a:r>
                        <a:rPr lang="en-US" altLang="ko-KR"/>
                        <a:t>5-12-25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 rowSpan="3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1.</a:t>
                      </a:r>
                      <a:r>
                        <a:rPr lang="ko-KR" altLang="en-US" sz="900"/>
                        <a:t>제목은 필수로 입력해야함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2.</a:t>
                      </a:r>
                      <a:r>
                        <a:rPr lang="ko-KR" altLang="en-US" sz="900"/>
                        <a:t>시작 날짜는 기본적으로 오늘 날짜로 입력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3.</a:t>
                      </a:r>
                      <a:r>
                        <a:rPr lang="ko-KR" altLang="en-US" sz="900"/>
                        <a:t>종료 날짜를 입력하면 해당 날짜까지만 규칙이 생성되고 기한 없음을 체크하면 종료 날짜 없이 무한정 규칙이 생성됨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기본적으로 기한없음이 체크됨</a:t>
                      </a:r>
                      <a:r>
                        <a:rPr lang="en-US" altLang="ko-KR" sz="900"/>
                        <a:t>)</a:t>
                      </a: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4.</a:t>
                      </a:r>
                      <a:r>
                        <a:rPr lang="ko-KR" altLang="en-US" sz="900"/>
                        <a:t>빈도는 몇주마다 할것인지 확인하는 옵션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매주</a:t>
                      </a:r>
                      <a:r>
                        <a:rPr lang="en-US" altLang="ko-KR" sz="900"/>
                        <a:t>~10</a:t>
                      </a:r>
                      <a:r>
                        <a:rPr lang="ko-KR" altLang="en-US" sz="900"/>
                        <a:t>주</a:t>
                      </a:r>
                      <a:r>
                        <a:rPr lang="en-US" altLang="ko-KR" sz="900"/>
                        <a:t>)</a:t>
                      </a:r>
                      <a:r>
                        <a:rPr lang="ko-KR" altLang="en-US" sz="900"/>
                        <a:t> </a:t>
                      </a:r>
                      <a:r>
                        <a:rPr lang="en-US" altLang="ko-KR" sz="900"/>
                        <a:t>2</a:t>
                      </a:r>
                      <a:r>
                        <a:rPr lang="ko-KR" altLang="en-US" sz="900"/>
                        <a:t>주를 선택시 </a:t>
                      </a:r>
                      <a:r>
                        <a:rPr lang="en-US" altLang="ko-KR" sz="900"/>
                        <a:t>2</a:t>
                      </a:r>
                      <a:r>
                        <a:rPr lang="ko-KR" altLang="en-US" sz="900"/>
                        <a:t>주마다 규칙 생성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5.</a:t>
                      </a:r>
                      <a:r>
                        <a:rPr lang="ko-KR" altLang="en-US" sz="900"/>
                        <a:t>요일 체크시 매주 해당 요일에 규칙 생성</a:t>
                      </a:r>
                      <a:br>
                        <a:rPr lang="ko-KR" altLang="en-US" sz="900"/>
                      </a:br>
                      <a:br>
                        <a:rPr lang="ko-KR" altLang="en-US" sz="900"/>
                      </a:br>
                      <a:r>
                        <a:rPr lang="en-US" altLang="ko-KR" sz="900"/>
                        <a:t>6.</a:t>
                      </a:r>
                      <a:r>
                        <a:rPr lang="ko-KR" altLang="en-US" sz="900"/>
                        <a:t>내용은 입력 안해도 됨</a:t>
                      </a:r>
                      <a:endParaRPr lang="ko-KR" altLang="en-US" sz="900"/>
                    </a:p>
                  </a:txBody>
                  <a:tcPr marL="91425" marR="91425" marT="91425" marB="91425"/>
                </a:tc>
              </a:tr>
              <a:tr h="385425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상세</a:t>
                      </a: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  <a:tr h="3519400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190" name="Google Shape;138;p23"/>
          <p:cNvSpPr/>
          <p:nvPr/>
        </p:nvSpPr>
        <p:spPr>
          <a:xfrm>
            <a:off x="1172950" y="1511325"/>
            <a:ext cx="5139060" cy="3245294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1" name="Google Shape;138;p23"/>
          <p:cNvSpPr/>
          <p:nvPr/>
        </p:nvSpPr>
        <p:spPr>
          <a:xfrm>
            <a:off x="1180440" y="1503916"/>
            <a:ext cx="5128341" cy="303124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규칙 추가</a:t>
            </a:r>
            <a:endParaRPr lang="ko-KR" altLang="en-US"/>
          </a:p>
        </p:txBody>
      </p:sp>
      <p:sp>
        <p:nvSpPr>
          <p:cNvPr id="192" name=""/>
          <p:cNvSpPr txBox="1"/>
          <p:nvPr/>
        </p:nvSpPr>
        <p:spPr>
          <a:xfrm>
            <a:off x="1341586" y="1909507"/>
            <a:ext cx="645329" cy="29838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제목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93" name="Google Shape;138;p23"/>
          <p:cNvSpPr/>
          <p:nvPr/>
        </p:nvSpPr>
        <p:spPr>
          <a:xfrm>
            <a:off x="5073855" y="4443815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등록</a:t>
            </a:r>
            <a:endParaRPr lang="ko-KR" altLang="en-US" sz="1000"/>
          </a:p>
        </p:txBody>
      </p:sp>
      <p:sp>
        <p:nvSpPr>
          <p:cNvPr id="194" name="Google Shape;138;p23"/>
          <p:cNvSpPr/>
          <p:nvPr/>
        </p:nvSpPr>
        <p:spPr>
          <a:xfrm>
            <a:off x="5658921" y="4442757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취소</a:t>
            </a:r>
            <a:endParaRPr lang="ko-KR" altLang="en-US" sz="1000"/>
          </a:p>
        </p:txBody>
      </p:sp>
      <p:sp>
        <p:nvSpPr>
          <p:cNvPr id="195" name="Google Shape;138;p23"/>
          <p:cNvSpPr/>
          <p:nvPr/>
        </p:nvSpPr>
        <p:spPr>
          <a:xfrm>
            <a:off x="1947801" y="1943992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96" name=""/>
          <p:cNvSpPr/>
          <p:nvPr/>
        </p:nvSpPr>
        <p:spPr>
          <a:xfrm>
            <a:off x="1465821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1956888" y="2262896"/>
            <a:ext cx="158750" cy="158750"/>
          </a:xfrm>
          <a:prstGeom prst="ellipse">
            <a:avLst/>
          </a:prstGeom>
          <a:solidFill>
            <a:srgbClr val="008000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8" name=""/>
          <p:cNvSpPr/>
          <p:nvPr/>
        </p:nvSpPr>
        <p:spPr>
          <a:xfrm>
            <a:off x="2488700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9" name=""/>
          <p:cNvSpPr/>
          <p:nvPr/>
        </p:nvSpPr>
        <p:spPr>
          <a:xfrm>
            <a:off x="3028451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00" name=""/>
          <p:cNvSpPr txBox="1"/>
          <p:nvPr/>
        </p:nvSpPr>
        <p:spPr>
          <a:xfrm>
            <a:off x="2330015" y="2421647"/>
            <a:ext cx="544085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월간</a:t>
            </a:r>
            <a:endParaRPr lang="ko-KR" altLang="en-US"/>
          </a:p>
        </p:txBody>
      </p:sp>
      <p:sp>
        <p:nvSpPr>
          <p:cNvPr id="201" name=""/>
          <p:cNvSpPr txBox="1"/>
          <p:nvPr/>
        </p:nvSpPr>
        <p:spPr>
          <a:xfrm>
            <a:off x="1772584" y="2421647"/>
            <a:ext cx="539541" cy="300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주간</a:t>
            </a:r>
            <a:endParaRPr lang="ko-KR" altLang="en-US"/>
          </a:p>
        </p:txBody>
      </p:sp>
      <p:sp>
        <p:nvSpPr>
          <p:cNvPr id="202" name=""/>
          <p:cNvSpPr txBox="1"/>
          <p:nvPr/>
        </p:nvSpPr>
        <p:spPr>
          <a:xfrm>
            <a:off x="1268319" y="2421647"/>
            <a:ext cx="544423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일간</a:t>
            </a:r>
            <a:endParaRPr lang="ko-KR" altLang="en-US"/>
          </a:p>
        </p:txBody>
      </p:sp>
      <p:sp>
        <p:nvSpPr>
          <p:cNvPr id="203" name=""/>
          <p:cNvSpPr txBox="1"/>
          <p:nvPr/>
        </p:nvSpPr>
        <p:spPr>
          <a:xfrm>
            <a:off x="2868113" y="2421647"/>
            <a:ext cx="544830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연간</a:t>
            </a:r>
            <a:endParaRPr lang="ko-KR" altLang="en-US"/>
          </a:p>
        </p:txBody>
      </p:sp>
      <p:sp>
        <p:nvSpPr>
          <p:cNvPr id="204" name=""/>
          <p:cNvSpPr txBox="1"/>
          <p:nvPr/>
        </p:nvSpPr>
        <p:spPr>
          <a:xfrm>
            <a:off x="1265386" y="2695319"/>
            <a:ext cx="993672" cy="2976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시작날짜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05" name="Google Shape;138;p23"/>
          <p:cNvSpPr/>
          <p:nvPr/>
        </p:nvSpPr>
        <p:spPr>
          <a:xfrm>
            <a:off x="2186923" y="2725042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06" name=""/>
          <p:cNvSpPr txBox="1"/>
          <p:nvPr/>
        </p:nvSpPr>
        <p:spPr>
          <a:xfrm>
            <a:off x="1260622" y="2971543"/>
            <a:ext cx="998436" cy="297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종료날짜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07" name="Google Shape;138;p23"/>
          <p:cNvSpPr/>
          <p:nvPr/>
        </p:nvSpPr>
        <p:spPr>
          <a:xfrm>
            <a:off x="2182160" y="3001267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08" name=""/>
          <p:cNvSpPr txBox="1"/>
          <p:nvPr/>
        </p:nvSpPr>
        <p:spPr>
          <a:xfrm>
            <a:off x="2579520" y="3271579"/>
            <a:ext cx="950445" cy="29839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기한없음 </a:t>
            </a:r>
            <a:endParaRPr lang="ko-KR" altLang="en-US"/>
          </a:p>
        </p:txBody>
      </p:sp>
      <p:sp>
        <p:nvSpPr>
          <p:cNvPr id="209" name="Google Shape;138;p23"/>
          <p:cNvSpPr/>
          <p:nvPr/>
        </p:nvSpPr>
        <p:spPr>
          <a:xfrm>
            <a:off x="3419457" y="3344167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10" name="Google Shape;138;p23"/>
          <p:cNvSpPr/>
          <p:nvPr/>
        </p:nvSpPr>
        <p:spPr>
          <a:xfrm>
            <a:off x="1311289" y="3566607"/>
            <a:ext cx="2311798" cy="875833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내용 입력</a:t>
            </a:r>
            <a:endParaRPr lang="ko-KR" altLang="en-US"/>
          </a:p>
        </p:txBody>
      </p:sp>
      <p:sp>
        <p:nvSpPr>
          <p:cNvPr id="169" name=""/>
          <p:cNvSpPr txBox="1"/>
          <p:nvPr/>
        </p:nvSpPr>
        <p:spPr>
          <a:xfrm>
            <a:off x="3630646" y="1891919"/>
            <a:ext cx="646011" cy="299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빈도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70" name="Google Shape;138;p23"/>
          <p:cNvSpPr/>
          <p:nvPr/>
        </p:nvSpPr>
        <p:spPr>
          <a:xfrm>
            <a:off x="4184111" y="1920964"/>
            <a:ext cx="775777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75" name="Google Shape;138;p23"/>
          <p:cNvSpPr/>
          <p:nvPr/>
        </p:nvSpPr>
        <p:spPr>
          <a:xfrm>
            <a:off x="3821792" y="2396690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77" name=""/>
          <p:cNvSpPr txBox="1"/>
          <p:nvPr/>
        </p:nvSpPr>
        <p:spPr>
          <a:xfrm>
            <a:off x="3739407" y="2581276"/>
            <a:ext cx="419208" cy="29760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일 </a:t>
            </a:r>
            <a:endParaRPr lang="ko-KR" altLang="en-US"/>
          </a:p>
        </p:txBody>
      </p:sp>
      <p:sp>
        <p:nvSpPr>
          <p:cNvPr id="178" name="Google Shape;138;p23"/>
          <p:cNvSpPr/>
          <p:nvPr/>
        </p:nvSpPr>
        <p:spPr>
          <a:xfrm>
            <a:off x="4136117" y="2415739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79" name=""/>
          <p:cNvSpPr txBox="1"/>
          <p:nvPr/>
        </p:nvSpPr>
        <p:spPr>
          <a:xfrm>
            <a:off x="4053731" y="2600325"/>
            <a:ext cx="419209" cy="2976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월 </a:t>
            </a:r>
            <a:endParaRPr lang="ko-KR" altLang="en-US"/>
          </a:p>
        </p:txBody>
      </p:sp>
      <p:sp>
        <p:nvSpPr>
          <p:cNvPr id="180" name="Google Shape;138;p23"/>
          <p:cNvSpPr/>
          <p:nvPr/>
        </p:nvSpPr>
        <p:spPr>
          <a:xfrm>
            <a:off x="4445679" y="2415739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81" name=""/>
          <p:cNvSpPr txBox="1"/>
          <p:nvPr/>
        </p:nvSpPr>
        <p:spPr>
          <a:xfrm>
            <a:off x="4363294" y="2600325"/>
            <a:ext cx="417411" cy="29760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화 </a:t>
            </a:r>
            <a:endParaRPr lang="ko-KR" altLang="en-US"/>
          </a:p>
        </p:txBody>
      </p:sp>
      <p:sp>
        <p:nvSpPr>
          <p:cNvPr id="182" name="Google Shape;138;p23"/>
          <p:cNvSpPr/>
          <p:nvPr/>
        </p:nvSpPr>
        <p:spPr>
          <a:xfrm>
            <a:off x="4779054" y="2401451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83" name=""/>
          <p:cNvSpPr txBox="1"/>
          <p:nvPr/>
        </p:nvSpPr>
        <p:spPr>
          <a:xfrm>
            <a:off x="4696668" y="2586037"/>
            <a:ext cx="417412" cy="29813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수 </a:t>
            </a:r>
            <a:endParaRPr lang="ko-KR" altLang="en-US"/>
          </a:p>
        </p:txBody>
      </p:sp>
      <p:sp>
        <p:nvSpPr>
          <p:cNvPr id="184" name="Google Shape;138;p23"/>
          <p:cNvSpPr/>
          <p:nvPr/>
        </p:nvSpPr>
        <p:spPr>
          <a:xfrm>
            <a:off x="5094078" y="2387164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85" name=""/>
          <p:cNvSpPr txBox="1"/>
          <p:nvPr/>
        </p:nvSpPr>
        <p:spPr>
          <a:xfrm>
            <a:off x="5011692" y="2571750"/>
            <a:ext cx="416713" cy="29760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목 </a:t>
            </a:r>
            <a:endParaRPr lang="ko-KR" altLang="en-US"/>
          </a:p>
        </p:txBody>
      </p:sp>
      <p:sp>
        <p:nvSpPr>
          <p:cNvPr id="186" name="Google Shape;138;p23"/>
          <p:cNvSpPr/>
          <p:nvPr/>
        </p:nvSpPr>
        <p:spPr>
          <a:xfrm>
            <a:off x="5401514" y="2401452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87" name=""/>
          <p:cNvSpPr txBox="1"/>
          <p:nvPr/>
        </p:nvSpPr>
        <p:spPr>
          <a:xfrm>
            <a:off x="5319128" y="2586037"/>
            <a:ext cx="420636" cy="29813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금 </a:t>
            </a:r>
            <a:endParaRPr lang="ko-KR" altLang="en-US"/>
          </a:p>
        </p:txBody>
      </p:sp>
      <p:sp>
        <p:nvSpPr>
          <p:cNvPr id="188" name="Google Shape;138;p23"/>
          <p:cNvSpPr/>
          <p:nvPr/>
        </p:nvSpPr>
        <p:spPr>
          <a:xfrm>
            <a:off x="5779877" y="2420502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89" name=""/>
          <p:cNvSpPr txBox="1"/>
          <p:nvPr/>
        </p:nvSpPr>
        <p:spPr>
          <a:xfrm>
            <a:off x="5697492" y="2605087"/>
            <a:ext cx="417411" cy="2981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토 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" name="Google Shape;137;p23"/>
          <p:cNvGraphicFramePr/>
          <p:nvPr/>
        </p:nvGraphicFramePr>
        <p:xfrm>
          <a:off x="252000" y="231750"/>
          <a:ext cx="8635800" cy="4689625"/>
        </p:xfrm>
        <a:graphic>
          <a:graphicData uri="http://schemas.openxmlformats.org/drawingml/2006/table">
            <a:tbl>
              <a:tblPr>
                <a:noFill/>
                <a:tableStyleId>{C35AED71-FBF5-48EC-AFBA-17D411AA58C9}</a:tableStyleId>
              </a:tblPr>
              <a:tblGrid>
                <a:gridCol w="1725900"/>
                <a:gridCol w="1728000"/>
                <a:gridCol w="1728000"/>
                <a:gridCol w="1728000"/>
                <a:gridCol w="1725900"/>
              </a:tblGrid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제목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ID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작성자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solidFill>
                            <a:schemeClr val="dk1"/>
                          </a:solidFill>
                        </a:rPr>
                        <a:t>작성 날짜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비고</a:t>
                      </a:r>
                      <a:endParaRPr/>
                    </a:p>
                  </a:txBody>
                  <a:tcPr marL="91425" marR="91425" marT="91425" marB="91425"/>
                </a:tc>
              </a:tr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규칙 추가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월간</a:t>
                      </a:r>
                      <a:r>
                        <a:rPr lang="en-US" altLang="ko-KR"/>
                        <a:t>)</a:t>
                      </a:r>
                      <a:r>
                        <a:rPr lang="ko-KR" altLang="en-US"/>
                        <a:t> 뷰</a:t>
                      </a:r>
                      <a:endParaRPr lang="ko-KR" altLang="en-US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/>
                        <a:t>S</a:t>
                      </a:r>
                      <a:r>
                        <a:rPr lang="ko"/>
                        <a:t>-0</a:t>
                      </a:r>
                      <a:r>
                        <a:rPr lang="en-US" altLang="ko-KR"/>
                        <a:t>4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김상훈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202</a:t>
                      </a:r>
                      <a:r>
                        <a:rPr lang="en-US" altLang="ko-KR"/>
                        <a:t>5-12-25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 rowSpan="3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1.</a:t>
                      </a:r>
                      <a:r>
                        <a:rPr lang="ko-KR" altLang="en-US" sz="900"/>
                        <a:t>제목은 필수로 입력해야함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2.</a:t>
                      </a:r>
                      <a:r>
                        <a:rPr lang="ko-KR" altLang="en-US" sz="900"/>
                        <a:t>시작 날짜는 기본적으로 오늘 날짜로 입력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3.</a:t>
                      </a:r>
                      <a:r>
                        <a:rPr lang="ko-KR" altLang="en-US" sz="900"/>
                        <a:t>종료 날짜를 입력하면 해당 날짜까지만 규칙이 생성되고 기한 없음을 체크하면 종료 날짜 없이 무한정 규칙이 생성됨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기본적으로 기한없음이 체크됨</a:t>
                      </a:r>
                      <a:r>
                        <a:rPr lang="en-US" altLang="ko-KR" sz="900"/>
                        <a:t>)</a:t>
                      </a: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4.</a:t>
                      </a:r>
                      <a:r>
                        <a:rPr lang="ko-KR" altLang="en-US" sz="900"/>
                        <a:t>빈도는 몇달마다 할것인지 확인하는 옵션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매달</a:t>
                      </a:r>
                      <a:r>
                        <a:rPr lang="en-US" altLang="ko-KR" sz="900"/>
                        <a:t>~11</a:t>
                      </a:r>
                      <a:r>
                        <a:rPr lang="ko-KR" altLang="en-US" sz="900"/>
                        <a:t>개월</a:t>
                      </a:r>
                      <a:r>
                        <a:rPr lang="en-US" altLang="ko-KR" sz="900"/>
                        <a:t>)</a:t>
                      </a:r>
                      <a:r>
                        <a:rPr lang="ko-KR" altLang="en-US" sz="900"/>
                        <a:t>  </a:t>
                      </a:r>
                      <a:r>
                        <a:rPr lang="en-US" altLang="ko-KR" sz="900"/>
                        <a:t>2</a:t>
                      </a:r>
                      <a:r>
                        <a:rPr lang="ko-KR" altLang="en-US" sz="900"/>
                        <a:t>개월 선택시 </a:t>
                      </a:r>
                      <a:r>
                        <a:rPr lang="en-US" altLang="ko-KR" sz="900"/>
                        <a:t>2</a:t>
                      </a:r>
                      <a:r>
                        <a:rPr lang="ko-KR" altLang="en-US" sz="900"/>
                        <a:t>개월마다 규칙 생성</a:t>
                      </a:r>
                      <a:br>
                        <a:rPr lang="ko-KR" altLang="en-US" sz="900"/>
                      </a:br>
                      <a:br>
                        <a:rPr lang="ko-KR" altLang="en-US" sz="900"/>
                      </a:br>
                      <a:r>
                        <a:rPr lang="en-US" altLang="ko-KR" sz="900"/>
                        <a:t>5.</a:t>
                      </a:r>
                      <a:r>
                        <a:rPr lang="ko-KR" altLang="en-US" sz="900"/>
                        <a:t>내용은 입력 안해도 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*</a:t>
                      </a:r>
                      <a:r>
                        <a:rPr lang="ko-KR" altLang="en-US" sz="900"/>
                        <a:t> 만약 </a:t>
                      </a:r>
                      <a:r>
                        <a:rPr lang="en-US" altLang="ko-KR" sz="900"/>
                        <a:t>29,</a:t>
                      </a:r>
                      <a:r>
                        <a:rPr lang="ko-KR" altLang="en-US" sz="900"/>
                        <a:t> </a:t>
                      </a:r>
                      <a:r>
                        <a:rPr lang="en-US" altLang="ko-KR" sz="900"/>
                        <a:t>30,</a:t>
                      </a:r>
                      <a:r>
                        <a:rPr lang="ko-KR" altLang="en-US" sz="900"/>
                        <a:t> </a:t>
                      </a:r>
                      <a:r>
                        <a:rPr lang="en-US" altLang="ko-KR" sz="900"/>
                        <a:t>31</a:t>
                      </a:r>
                      <a:r>
                        <a:rPr lang="ko-KR" altLang="en-US" sz="900"/>
                        <a:t> 선택시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 sz="900"/>
                        <a:t>해당 달에 </a:t>
                      </a:r>
                      <a:r>
                        <a:rPr lang="en-US" altLang="ko-KR" sz="900"/>
                        <a:t>29,</a:t>
                      </a:r>
                      <a:r>
                        <a:rPr lang="ko-KR" altLang="en-US" sz="900"/>
                        <a:t> </a:t>
                      </a:r>
                      <a:r>
                        <a:rPr lang="en-US" altLang="ko-KR" sz="900"/>
                        <a:t>30,</a:t>
                      </a:r>
                      <a:r>
                        <a:rPr lang="ko-KR" altLang="en-US" sz="900"/>
                        <a:t> </a:t>
                      </a:r>
                      <a:r>
                        <a:rPr lang="en-US" altLang="ko-KR" sz="900"/>
                        <a:t>31</a:t>
                      </a:r>
                      <a:r>
                        <a:rPr lang="ko-KR" altLang="en-US" sz="900"/>
                        <a:t>일이 존재하지 않으면 규칙은 생성하지 않음</a:t>
                      </a:r>
                      <a:endParaRPr lang="ko-KR" altLang="en-US" sz="900"/>
                    </a:p>
                  </a:txBody>
                  <a:tcPr marL="91425" marR="91425" marT="91425" marB="91425"/>
                </a:tc>
              </a:tr>
              <a:tr h="385425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상세</a:t>
                      </a: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  <a:tr h="3519400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190" name="Google Shape;138;p23"/>
          <p:cNvSpPr/>
          <p:nvPr/>
        </p:nvSpPr>
        <p:spPr>
          <a:xfrm>
            <a:off x="1172950" y="1511325"/>
            <a:ext cx="5139060" cy="3245294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1" name="Google Shape;138;p23"/>
          <p:cNvSpPr/>
          <p:nvPr/>
        </p:nvSpPr>
        <p:spPr>
          <a:xfrm>
            <a:off x="1180440" y="1503916"/>
            <a:ext cx="5128341" cy="303124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규칙 추가</a:t>
            </a:r>
            <a:endParaRPr lang="ko-KR" altLang="en-US"/>
          </a:p>
        </p:txBody>
      </p:sp>
      <p:sp>
        <p:nvSpPr>
          <p:cNvPr id="192" name=""/>
          <p:cNvSpPr txBox="1"/>
          <p:nvPr/>
        </p:nvSpPr>
        <p:spPr>
          <a:xfrm>
            <a:off x="1341586" y="1909507"/>
            <a:ext cx="645329" cy="29838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제목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93" name="Google Shape;138;p23"/>
          <p:cNvSpPr/>
          <p:nvPr/>
        </p:nvSpPr>
        <p:spPr>
          <a:xfrm>
            <a:off x="5073855" y="4443815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등록</a:t>
            </a:r>
            <a:endParaRPr lang="ko-KR" altLang="en-US" sz="1000"/>
          </a:p>
        </p:txBody>
      </p:sp>
      <p:sp>
        <p:nvSpPr>
          <p:cNvPr id="194" name="Google Shape;138;p23"/>
          <p:cNvSpPr/>
          <p:nvPr/>
        </p:nvSpPr>
        <p:spPr>
          <a:xfrm>
            <a:off x="5658921" y="4442757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취소</a:t>
            </a:r>
            <a:endParaRPr lang="ko-KR" altLang="en-US" sz="1000"/>
          </a:p>
        </p:txBody>
      </p:sp>
      <p:sp>
        <p:nvSpPr>
          <p:cNvPr id="195" name="Google Shape;138;p23"/>
          <p:cNvSpPr/>
          <p:nvPr/>
        </p:nvSpPr>
        <p:spPr>
          <a:xfrm>
            <a:off x="1947801" y="1943992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96" name=""/>
          <p:cNvSpPr/>
          <p:nvPr/>
        </p:nvSpPr>
        <p:spPr>
          <a:xfrm>
            <a:off x="1465821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1956888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8" name=""/>
          <p:cNvSpPr/>
          <p:nvPr/>
        </p:nvSpPr>
        <p:spPr>
          <a:xfrm>
            <a:off x="2488700" y="2262896"/>
            <a:ext cx="158750" cy="158750"/>
          </a:xfrm>
          <a:prstGeom prst="ellipse">
            <a:avLst/>
          </a:prstGeom>
          <a:solidFill>
            <a:srgbClr val="008000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9" name=""/>
          <p:cNvSpPr/>
          <p:nvPr/>
        </p:nvSpPr>
        <p:spPr>
          <a:xfrm>
            <a:off x="3028451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00" name=""/>
          <p:cNvSpPr txBox="1"/>
          <p:nvPr/>
        </p:nvSpPr>
        <p:spPr>
          <a:xfrm>
            <a:off x="2330015" y="2421647"/>
            <a:ext cx="544085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월간</a:t>
            </a:r>
            <a:endParaRPr lang="ko-KR" altLang="en-US"/>
          </a:p>
        </p:txBody>
      </p:sp>
      <p:sp>
        <p:nvSpPr>
          <p:cNvPr id="201" name=""/>
          <p:cNvSpPr txBox="1"/>
          <p:nvPr/>
        </p:nvSpPr>
        <p:spPr>
          <a:xfrm>
            <a:off x="1772584" y="2421647"/>
            <a:ext cx="539541" cy="300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주간</a:t>
            </a:r>
            <a:endParaRPr lang="ko-KR" altLang="en-US"/>
          </a:p>
        </p:txBody>
      </p:sp>
      <p:sp>
        <p:nvSpPr>
          <p:cNvPr id="202" name=""/>
          <p:cNvSpPr txBox="1"/>
          <p:nvPr/>
        </p:nvSpPr>
        <p:spPr>
          <a:xfrm>
            <a:off x="1268319" y="2421647"/>
            <a:ext cx="544423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일간</a:t>
            </a:r>
            <a:endParaRPr lang="ko-KR" altLang="en-US"/>
          </a:p>
        </p:txBody>
      </p:sp>
      <p:sp>
        <p:nvSpPr>
          <p:cNvPr id="203" name=""/>
          <p:cNvSpPr txBox="1"/>
          <p:nvPr/>
        </p:nvSpPr>
        <p:spPr>
          <a:xfrm>
            <a:off x="2868113" y="2421647"/>
            <a:ext cx="544830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연간</a:t>
            </a:r>
            <a:endParaRPr lang="ko-KR" altLang="en-US"/>
          </a:p>
        </p:txBody>
      </p:sp>
      <p:sp>
        <p:nvSpPr>
          <p:cNvPr id="204" name=""/>
          <p:cNvSpPr txBox="1"/>
          <p:nvPr/>
        </p:nvSpPr>
        <p:spPr>
          <a:xfrm>
            <a:off x="1265386" y="2695319"/>
            <a:ext cx="993672" cy="2976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시작날짜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05" name="Google Shape;138;p23"/>
          <p:cNvSpPr/>
          <p:nvPr/>
        </p:nvSpPr>
        <p:spPr>
          <a:xfrm>
            <a:off x="2186923" y="2725042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06" name=""/>
          <p:cNvSpPr txBox="1"/>
          <p:nvPr/>
        </p:nvSpPr>
        <p:spPr>
          <a:xfrm>
            <a:off x="1260622" y="2971543"/>
            <a:ext cx="998436" cy="297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종료날짜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07" name="Google Shape;138;p23"/>
          <p:cNvSpPr/>
          <p:nvPr/>
        </p:nvSpPr>
        <p:spPr>
          <a:xfrm>
            <a:off x="2182160" y="3001267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08" name=""/>
          <p:cNvSpPr txBox="1"/>
          <p:nvPr/>
        </p:nvSpPr>
        <p:spPr>
          <a:xfrm>
            <a:off x="2579520" y="3271579"/>
            <a:ext cx="950445" cy="29839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기한없음 </a:t>
            </a:r>
            <a:endParaRPr lang="ko-KR" altLang="en-US"/>
          </a:p>
        </p:txBody>
      </p:sp>
      <p:sp>
        <p:nvSpPr>
          <p:cNvPr id="209" name="Google Shape;138;p23"/>
          <p:cNvSpPr/>
          <p:nvPr/>
        </p:nvSpPr>
        <p:spPr>
          <a:xfrm>
            <a:off x="3419457" y="3344167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10" name="Google Shape;138;p23"/>
          <p:cNvSpPr/>
          <p:nvPr/>
        </p:nvSpPr>
        <p:spPr>
          <a:xfrm>
            <a:off x="1311289" y="3566607"/>
            <a:ext cx="2311798" cy="875833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내용 입력</a:t>
            </a:r>
            <a:endParaRPr lang="ko-KR" altLang="en-US"/>
          </a:p>
        </p:txBody>
      </p:sp>
      <p:sp>
        <p:nvSpPr>
          <p:cNvPr id="169" name=""/>
          <p:cNvSpPr txBox="1"/>
          <p:nvPr/>
        </p:nvSpPr>
        <p:spPr>
          <a:xfrm>
            <a:off x="3630646" y="1908247"/>
            <a:ext cx="646011" cy="2996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빈도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70" name="Google Shape;138;p23"/>
          <p:cNvSpPr/>
          <p:nvPr/>
        </p:nvSpPr>
        <p:spPr>
          <a:xfrm>
            <a:off x="4184111" y="1937292"/>
            <a:ext cx="775777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11" name="Google Shape;138;p23"/>
          <p:cNvSpPr/>
          <p:nvPr/>
        </p:nvSpPr>
        <p:spPr>
          <a:xfrm>
            <a:off x="3821792" y="2396690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12" name=""/>
          <p:cNvSpPr txBox="1"/>
          <p:nvPr/>
        </p:nvSpPr>
        <p:spPr>
          <a:xfrm>
            <a:off x="3739407" y="2581276"/>
            <a:ext cx="343008" cy="29760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1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13" name="Google Shape;138;p23"/>
          <p:cNvSpPr/>
          <p:nvPr/>
        </p:nvSpPr>
        <p:spPr>
          <a:xfrm>
            <a:off x="4136117" y="2415739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14" name=""/>
          <p:cNvSpPr txBox="1"/>
          <p:nvPr/>
        </p:nvSpPr>
        <p:spPr>
          <a:xfrm>
            <a:off x="4053731" y="2600325"/>
            <a:ext cx="343009" cy="2976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2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15" name="Google Shape;138;p23"/>
          <p:cNvSpPr/>
          <p:nvPr/>
        </p:nvSpPr>
        <p:spPr>
          <a:xfrm>
            <a:off x="4445679" y="2415739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16" name=""/>
          <p:cNvSpPr txBox="1"/>
          <p:nvPr/>
        </p:nvSpPr>
        <p:spPr>
          <a:xfrm>
            <a:off x="4363294" y="2600325"/>
            <a:ext cx="338246" cy="29760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3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17" name="Google Shape;138;p23"/>
          <p:cNvSpPr/>
          <p:nvPr/>
        </p:nvSpPr>
        <p:spPr>
          <a:xfrm>
            <a:off x="4779054" y="2401451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18" name=""/>
          <p:cNvSpPr txBox="1"/>
          <p:nvPr/>
        </p:nvSpPr>
        <p:spPr>
          <a:xfrm>
            <a:off x="4696668" y="2586037"/>
            <a:ext cx="338247" cy="29813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4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19" name="Google Shape;138;p23"/>
          <p:cNvSpPr/>
          <p:nvPr/>
        </p:nvSpPr>
        <p:spPr>
          <a:xfrm>
            <a:off x="5094078" y="2387164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20" name=""/>
          <p:cNvSpPr txBox="1"/>
          <p:nvPr/>
        </p:nvSpPr>
        <p:spPr>
          <a:xfrm>
            <a:off x="5011692" y="2571750"/>
            <a:ext cx="337548" cy="29760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5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21" name="Google Shape;138;p23"/>
          <p:cNvSpPr/>
          <p:nvPr/>
        </p:nvSpPr>
        <p:spPr>
          <a:xfrm>
            <a:off x="5401514" y="2401452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22" name=""/>
          <p:cNvSpPr txBox="1"/>
          <p:nvPr/>
        </p:nvSpPr>
        <p:spPr>
          <a:xfrm>
            <a:off x="5319128" y="2586037"/>
            <a:ext cx="344437" cy="29813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6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23" name="Google Shape;138;p23"/>
          <p:cNvSpPr/>
          <p:nvPr/>
        </p:nvSpPr>
        <p:spPr>
          <a:xfrm>
            <a:off x="5779877" y="2420502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24" name=""/>
          <p:cNvSpPr txBox="1"/>
          <p:nvPr/>
        </p:nvSpPr>
        <p:spPr>
          <a:xfrm>
            <a:off x="5697492" y="2605087"/>
            <a:ext cx="417411" cy="2981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/>
              <a:t>7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25" name="Google Shape;138;p23"/>
          <p:cNvSpPr/>
          <p:nvPr/>
        </p:nvSpPr>
        <p:spPr>
          <a:xfrm>
            <a:off x="6042620" y="2473105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26" name=""/>
          <p:cNvSpPr txBox="1"/>
          <p:nvPr/>
        </p:nvSpPr>
        <p:spPr>
          <a:xfrm>
            <a:off x="5960235" y="2657690"/>
            <a:ext cx="343008" cy="29760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8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27" name="Google Shape;138;p23"/>
          <p:cNvSpPr/>
          <p:nvPr/>
        </p:nvSpPr>
        <p:spPr>
          <a:xfrm>
            <a:off x="3841211" y="2904964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28" name=""/>
          <p:cNvSpPr txBox="1"/>
          <p:nvPr/>
        </p:nvSpPr>
        <p:spPr>
          <a:xfrm>
            <a:off x="3758825" y="3089549"/>
            <a:ext cx="343009" cy="29944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9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29" name="Google Shape;138;p23"/>
          <p:cNvSpPr/>
          <p:nvPr/>
        </p:nvSpPr>
        <p:spPr>
          <a:xfrm>
            <a:off x="4150773" y="2904964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30" name=""/>
          <p:cNvSpPr txBox="1"/>
          <p:nvPr/>
        </p:nvSpPr>
        <p:spPr>
          <a:xfrm>
            <a:off x="4068388" y="3089549"/>
            <a:ext cx="433496" cy="29944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10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31" name="Google Shape;138;p23"/>
          <p:cNvSpPr/>
          <p:nvPr/>
        </p:nvSpPr>
        <p:spPr>
          <a:xfrm>
            <a:off x="4484148" y="2890676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32" name=""/>
          <p:cNvSpPr txBox="1"/>
          <p:nvPr/>
        </p:nvSpPr>
        <p:spPr>
          <a:xfrm>
            <a:off x="4401762" y="3075261"/>
            <a:ext cx="433497" cy="29869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11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33" name="Google Shape;138;p23"/>
          <p:cNvSpPr/>
          <p:nvPr/>
        </p:nvSpPr>
        <p:spPr>
          <a:xfrm>
            <a:off x="4799172" y="2876389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34" name=""/>
          <p:cNvSpPr txBox="1"/>
          <p:nvPr/>
        </p:nvSpPr>
        <p:spPr>
          <a:xfrm>
            <a:off x="4716786" y="3060974"/>
            <a:ext cx="432798" cy="29944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12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35" name="Google Shape;138;p23"/>
          <p:cNvSpPr/>
          <p:nvPr/>
        </p:nvSpPr>
        <p:spPr>
          <a:xfrm>
            <a:off x="5106608" y="2890677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36" name=""/>
          <p:cNvSpPr txBox="1"/>
          <p:nvPr/>
        </p:nvSpPr>
        <p:spPr>
          <a:xfrm>
            <a:off x="5024222" y="3075261"/>
            <a:ext cx="439686" cy="29869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13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37" name="Google Shape;138;p23"/>
          <p:cNvSpPr/>
          <p:nvPr/>
        </p:nvSpPr>
        <p:spPr>
          <a:xfrm>
            <a:off x="5484971" y="2909727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38" name=""/>
          <p:cNvSpPr txBox="1"/>
          <p:nvPr/>
        </p:nvSpPr>
        <p:spPr>
          <a:xfrm>
            <a:off x="5402586" y="3094311"/>
            <a:ext cx="417411" cy="2986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/>
              <a:t>14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39" name="Google Shape;138;p23"/>
          <p:cNvSpPr/>
          <p:nvPr/>
        </p:nvSpPr>
        <p:spPr>
          <a:xfrm>
            <a:off x="5736818" y="2929451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40" name=""/>
          <p:cNvSpPr txBox="1"/>
          <p:nvPr/>
        </p:nvSpPr>
        <p:spPr>
          <a:xfrm>
            <a:off x="5654433" y="3114036"/>
            <a:ext cx="438258" cy="29760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15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41" name="Google Shape;138;p23"/>
          <p:cNvSpPr/>
          <p:nvPr/>
        </p:nvSpPr>
        <p:spPr>
          <a:xfrm>
            <a:off x="6051143" y="2948500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42" name=""/>
          <p:cNvSpPr txBox="1"/>
          <p:nvPr/>
        </p:nvSpPr>
        <p:spPr>
          <a:xfrm>
            <a:off x="5968757" y="3133085"/>
            <a:ext cx="438259" cy="2976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16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43" name="Google Shape;138;p23"/>
          <p:cNvSpPr/>
          <p:nvPr/>
        </p:nvSpPr>
        <p:spPr>
          <a:xfrm>
            <a:off x="3835749" y="3394672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44" name=""/>
          <p:cNvSpPr txBox="1"/>
          <p:nvPr/>
        </p:nvSpPr>
        <p:spPr>
          <a:xfrm>
            <a:off x="3753364" y="3579257"/>
            <a:ext cx="433826" cy="29760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17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45" name="Google Shape;138;p23"/>
          <p:cNvSpPr/>
          <p:nvPr/>
        </p:nvSpPr>
        <p:spPr>
          <a:xfrm>
            <a:off x="4169124" y="3380384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46" name=""/>
          <p:cNvSpPr txBox="1"/>
          <p:nvPr/>
        </p:nvSpPr>
        <p:spPr>
          <a:xfrm>
            <a:off x="4086738" y="3564969"/>
            <a:ext cx="433826" cy="3002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18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47" name="Google Shape;138;p23"/>
          <p:cNvSpPr/>
          <p:nvPr/>
        </p:nvSpPr>
        <p:spPr>
          <a:xfrm>
            <a:off x="4484148" y="3366097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48" name=""/>
          <p:cNvSpPr txBox="1"/>
          <p:nvPr/>
        </p:nvSpPr>
        <p:spPr>
          <a:xfrm>
            <a:off x="4401762" y="3550682"/>
            <a:ext cx="433128" cy="29760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19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49" name="Google Shape;138;p23"/>
          <p:cNvSpPr/>
          <p:nvPr/>
        </p:nvSpPr>
        <p:spPr>
          <a:xfrm>
            <a:off x="4791584" y="3380385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50" name=""/>
          <p:cNvSpPr txBox="1"/>
          <p:nvPr/>
        </p:nvSpPr>
        <p:spPr>
          <a:xfrm>
            <a:off x="4709198" y="3564969"/>
            <a:ext cx="440017" cy="3002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20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51" name="Google Shape;138;p23"/>
          <p:cNvSpPr/>
          <p:nvPr/>
        </p:nvSpPr>
        <p:spPr>
          <a:xfrm>
            <a:off x="5169947" y="3399435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52" name=""/>
          <p:cNvSpPr txBox="1"/>
          <p:nvPr/>
        </p:nvSpPr>
        <p:spPr>
          <a:xfrm>
            <a:off x="5087562" y="3584019"/>
            <a:ext cx="417411" cy="300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/>
              <a:t>21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53" name="Google Shape;138;p23"/>
          <p:cNvSpPr/>
          <p:nvPr/>
        </p:nvSpPr>
        <p:spPr>
          <a:xfrm>
            <a:off x="5426002" y="3405701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54" name=""/>
          <p:cNvSpPr txBox="1"/>
          <p:nvPr/>
        </p:nvSpPr>
        <p:spPr>
          <a:xfrm>
            <a:off x="5343617" y="3590286"/>
            <a:ext cx="438258" cy="2985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22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55" name="Google Shape;138;p23"/>
          <p:cNvSpPr/>
          <p:nvPr/>
        </p:nvSpPr>
        <p:spPr>
          <a:xfrm>
            <a:off x="5740327" y="3424750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56" name=""/>
          <p:cNvSpPr txBox="1"/>
          <p:nvPr/>
        </p:nvSpPr>
        <p:spPr>
          <a:xfrm>
            <a:off x="5657941" y="3609335"/>
            <a:ext cx="438259" cy="2985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23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57" name="Google Shape;138;p23"/>
          <p:cNvSpPr/>
          <p:nvPr/>
        </p:nvSpPr>
        <p:spPr>
          <a:xfrm>
            <a:off x="6049889" y="3424750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58" name=""/>
          <p:cNvSpPr txBox="1"/>
          <p:nvPr/>
        </p:nvSpPr>
        <p:spPr>
          <a:xfrm>
            <a:off x="5967504" y="3609335"/>
            <a:ext cx="433496" cy="2985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/>
              <a:t>24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59" name="Google Shape;138;p23"/>
          <p:cNvSpPr/>
          <p:nvPr/>
        </p:nvSpPr>
        <p:spPr>
          <a:xfrm>
            <a:off x="3861688" y="3891725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60" name=""/>
          <p:cNvSpPr txBox="1"/>
          <p:nvPr/>
        </p:nvSpPr>
        <p:spPr>
          <a:xfrm>
            <a:off x="3779302" y="4076311"/>
            <a:ext cx="436463" cy="29869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25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61" name="Google Shape;138;p23"/>
          <p:cNvSpPr/>
          <p:nvPr/>
        </p:nvSpPr>
        <p:spPr>
          <a:xfrm>
            <a:off x="4176712" y="3877438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62" name=""/>
          <p:cNvSpPr txBox="1"/>
          <p:nvPr/>
        </p:nvSpPr>
        <p:spPr>
          <a:xfrm>
            <a:off x="4094326" y="4062024"/>
            <a:ext cx="432798" cy="2985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/>
              <a:t>26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63" name="Google Shape;138;p23"/>
          <p:cNvSpPr/>
          <p:nvPr/>
        </p:nvSpPr>
        <p:spPr>
          <a:xfrm>
            <a:off x="4484148" y="3891726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64" name=""/>
          <p:cNvSpPr txBox="1"/>
          <p:nvPr/>
        </p:nvSpPr>
        <p:spPr>
          <a:xfrm>
            <a:off x="4401762" y="4076311"/>
            <a:ext cx="439686" cy="29869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27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65" name="Google Shape;138;p23"/>
          <p:cNvSpPr/>
          <p:nvPr/>
        </p:nvSpPr>
        <p:spPr>
          <a:xfrm>
            <a:off x="4862511" y="3910776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66" name=""/>
          <p:cNvSpPr txBox="1"/>
          <p:nvPr/>
        </p:nvSpPr>
        <p:spPr>
          <a:xfrm>
            <a:off x="4780126" y="4095361"/>
            <a:ext cx="417411" cy="2986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/>
              <a:t>28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67" name="Google Shape;138;p23"/>
          <p:cNvSpPr/>
          <p:nvPr/>
        </p:nvSpPr>
        <p:spPr>
          <a:xfrm>
            <a:off x="5190175" y="3891725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68" name=""/>
          <p:cNvSpPr txBox="1"/>
          <p:nvPr/>
        </p:nvSpPr>
        <p:spPr>
          <a:xfrm>
            <a:off x="5107789" y="4076311"/>
            <a:ext cx="431950" cy="29869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29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69" name="Google Shape;138;p23"/>
          <p:cNvSpPr/>
          <p:nvPr/>
        </p:nvSpPr>
        <p:spPr>
          <a:xfrm>
            <a:off x="5505199" y="3877438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70" name=""/>
          <p:cNvSpPr txBox="1"/>
          <p:nvPr/>
        </p:nvSpPr>
        <p:spPr>
          <a:xfrm>
            <a:off x="5422813" y="4062024"/>
            <a:ext cx="432798" cy="2985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/>
              <a:t>30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71" name="Google Shape;138;p23"/>
          <p:cNvSpPr/>
          <p:nvPr/>
        </p:nvSpPr>
        <p:spPr>
          <a:xfrm>
            <a:off x="5812635" y="3891726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72" name=""/>
          <p:cNvSpPr txBox="1"/>
          <p:nvPr/>
        </p:nvSpPr>
        <p:spPr>
          <a:xfrm>
            <a:off x="5730249" y="4076311"/>
            <a:ext cx="438141" cy="29869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/>
              <a:t>31</a:t>
            </a:r>
            <a:r>
              <a:rPr lang="ko-KR" altLang="en-US"/>
              <a:t> 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" name="Google Shape;137;p23"/>
          <p:cNvGraphicFramePr/>
          <p:nvPr/>
        </p:nvGraphicFramePr>
        <p:xfrm>
          <a:off x="252000" y="231750"/>
          <a:ext cx="8635800" cy="4825950"/>
        </p:xfrm>
        <a:graphic>
          <a:graphicData uri="http://schemas.openxmlformats.org/drawingml/2006/table">
            <a:tbl>
              <a:tblPr>
                <a:noFill/>
                <a:tableStyleId>{C35AED71-FBF5-48EC-AFBA-17D411AA58C9}</a:tableStyleId>
              </a:tblPr>
              <a:tblGrid>
                <a:gridCol w="1725900"/>
                <a:gridCol w="1728000"/>
                <a:gridCol w="1728000"/>
                <a:gridCol w="1728000"/>
                <a:gridCol w="1725900"/>
              </a:tblGrid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제목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ID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작성자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solidFill>
                            <a:schemeClr val="dk1"/>
                          </a:solidFill>
                        </a:rPr>
                        <a:t>작성 날짜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비고</a:t>
                      </a:r>
                      <a:endParaRPr/>
                    </a:p>
                  </a:txBody>
                  <a:tcPr marL="91425" marR="91425" marT="91425" marB="91425"/>
                </a:tc>
              </a:tr>
              <a:tr h="385425"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규칙 추가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연간</a:t>
                      </a:r>
                      <a:r>
                        <a:rPr lang="en-US" altLang="ko-KR"/>
                        <a:t>)</a:t>
                      </a:r>
                      <a:r>
                        <a:rPr lang="ko-KR" altLang="en-US"/>
                        <a:t> 뷰</a:t>
                      </a:r>
                      <a:endParaRPr lang="ko-KR" altLang="en-US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/>
                        <a:t>S</a:t>
                      </a:r>
                      <a:r>
                        <a:rPr lang="ko"/>
                        <a:t>-0</a:t>
                      </a:r>
                      <a:r>
                        <a:rPr lang="en-US" altLang="ko-KR"/>
                        <a:t>4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/>
                        <a:t>김상훈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202</a:t>
                      </a:r>
                      <a:r>
                        <a:rPr lang="en-US" altLang="ko-KR"/>
                        <a:t>5-12-25</a:t>
                      </a:r>
                      <a:endParaRPr lang="en-US" altLang="ko-KR"/>
                    </a:p>
                  </a:txBody>
                  <a:tcPr marL="91425" marR="91425" marT="91425" marB="91425"/>
                </a:tc>
                <a:tc rowSpan="3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1.</a:t>
                      </a:r>
                      <a:r>
                        <a:rPr lang="ko-KR" altLang="en-US" sz="900"/>
                        <a:t>제목은 필수로 입력해야함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2.</a:t>
                      </a:r>
                      <a:r>
                        <a:rPr lang="ko-KR" altLang="en-US" sz="900"/>
                        <a:t>시작 날짜는 기본적으로 오늘 날짜로 입력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3.</a:t>
                      </a:r>
                      <a:r>
                        <a:rPr lang="ko-KR" altLang="en-US" sz="900"/>
                        <a:t>종료 날짜를 입력하면 해당 날짜까지만 규칙이 생성되고 기한 없음을 체크하면 종료 날짜 없이 무한정 규칙이 생성됨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기본적으로 기한없음이 체크됨</a:t>
                      </a:r>
                      <a:r>
                        <a:rPr lang="en-US" altLang="ko-KR" sz="900"/>
                        <a:t>)</a:t>
                      </a: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en-US" altLang="ko-KR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4.</a:t>
                      </a:r>
                      <a:r>
                        <a:rPr lang="ko-KR" altLang="en-US" sz="900"/>
                        <a:t>빈도는 몇년마다 할것인지 확인하는 옵션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매년</a:t>
                      </a:r>
                      <a:r>
                        <a:rPr lang="en-US" altLang="ko-KR" sz="900"/>
                        <a:t>~10</a:t>
                      </a:r>
                      <a:r>
                        <a:rPr lang="ko-KR" altLang="en-US" sz="900"/>
                        <a:t>년</a:t>
                      </a:r>
                      <a:r>
                        <a:rPr lang="en-US" altLang="ko-KR" sz="900"/>
                        <a:t>)</a:t>
                      </a:r>
                      <a:r>
                        <a:rPr lang="ko-KR" altLang="en-US" sz="900"/>
                        <a:t>  </a:t>
                      </a:r>
                      <a:r>
                        <a:rPr lang="en-US" altLang="ko-KR" sz="900"/>
                        <a:t>2</a:t>
                      </a:r>
                      <a:r>
                        <a:rPr lang="ko-KR" altLang="en-US" sz="900"/>
                        <a:t>년 선택시 </a:t>
                      </a:r>
                      <a:r>
                        <a:rPr lang="en-US" altLang="ko-KR" sz="900"/>
                        <a:t>2</a:t>
                      </a:r>
                      <a:r>
                        <a:rPr lang="ko-KR" altLang="en-US" sz="900"/>
                        <a:t>년마다 규칙 생성</a:t>
                      </a:r>
                      <a:br>
                        <a:rPr lang="ko-KR" altLang="en-US" sz="900"/>
                      </a:br>
                      <a:br>
                        <a:rPr lang="ko-KR" altLang="en-US" sz="900"/>
                      </a:br>
                      <a:r>
                        <a:rPr lang="en-US" altLang="ko-KR" sz="900"/>
                        <a:t>5.</a:t>
                      </a:r>
                      <a:r>
                        <a:rPr lang="ko-KR" altLang="en-US" sz="900"/>
                        <a:t>날짜 옆에 박스를 누르면 월</a:t>
                      </a:r>
                      <a:r>
                        <a:rPr lang="en-US" altLang="ko-KR" sz="900"/>
                        <a:t>,</a:t>
                      </a:r>
                      <a:r>
                        <a:rPr lang="ko-KR" altLang="en-US" sz="900"/>
                        <a:t> 일을 선택할수있고</a:t>
                      </a:r>
                      <a:r>
                        <a:rPr lang="en-US" altLang="ko-KR" sz="900"/>
                        <a:t>,</a:t>
                      </a:r>
                      <a:r>
                        <a:rPr lang="ko-KR" altLang="en-US" sz="900"/>
                        <a:t> 선택 후에 추가 버튼을 누르면 아래 추가된 날짜에 날짜가 추가됨 해당 날짜에 규칙 생성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+</a:t>
                      </a:r>
                      <a:r>
                        <a:rPr lang="ko-KR" altLang="en-US" sz="900"/>
                        <a:t> 날짜를 선택하고 제거 버튼 누르면 날짜 제거 가능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6.</a:t>
                      </a:r>
                      <a:r>
                        <a:rPr lang="ko-KR" altLang="en-US" sz="900"/>
                        <a:t>내용은 입력 안해도 됨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altLang="ko-KR" sz="900"/>
                        <a:t>*</a:t>
                      </a:r>
                      <a:r>
                        <a:rPr lang="ko-KR" altLang="en-US" sz="900"/>
                        <a:t> 만약 </a:t>
                      </a:r>
                      <a:r>
                        <a:rPr lang="en-US" altLang="ko-KR" sz="900"/>
                        <a:t>29,</a:t>
                      </a:r>
                      <a:r>
                        <a:rPr lang="ko-KR" altLang="en-US" sz="900"/>
                        <a:t> </a:t>
                      </a:r>
                      <a:r>
                        <a:rPr lang="en-US" altLang="ko-KR" sz="900"/>
                        <a:t>30,</a:t>
                      </a:r>
                      <a:r>
                        <a:rPr lang="ko-KR" altLang="en-US" sz="900"/>
                        <a:t> </a:t>
                      </a:r>
                      <a:r>
                        <a:rPr lang="en-US" altLang="ko-KR" sz="900"/>
                        <a:t>31</a:t>
                      </a:r>
                      <a:r>
                        <a:rPr lang="ko-KR" altLang="en-US" sz="900"/>
                        <a:t>일 선택시</a:t>
                      </a:r>
                      <a:endParaRPr lang="ko-KR" altLang="en-US" sz="9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-KR" altLang="en-US" sz="900"/>
                        <a:t>해당 달에 </a:t>
                      </a:r>
                      <a:r>
                        <a:rPr lang="en-US" altLang="ko-KR" sz="900"/>
                        <a:t>29,</a:t>
                      </a:r>
                      <a:r>
                        <a:rPr lang="ko-KR" altLang="en-US" sz="900"/>
                        <a:t> </a:t>
                      </a:r>
                      <a:r>
                        <a:rPr lang="en-US" altLang="ko-KR" sz="900"/>
                        <a:t>30,</a:t>
                      </a:r>
                      <a:r>
                        <a:rPr lang="ko-KR" altLang="en-US" sz="900"/>
                        <a:t> </a:t>
                      </a:r>
                      <a:r>
                        <a:rPr lang="en-US" altLang="ko-KR" sz="900"/>
                        <a:t>31</a:t>
                      </a:r>
                      <a:r>
                        <a:rPr lang="ko-KR" altLang="en-US" sz="900"/>
                        <a:t>일이 존재하지 않으면 규칙은 생성하지 않음</a:t>
                      </a:r>
                      <a:endParaRPr lang="ko-KR" altLang="en-US" sz="900"/>
                    </a:p>
                  </a:txBody>
                  <a:tcPr marL="91425" marR="91425" marT="91425" marB="91425"/>
                </a:tc>
              </a:tr>
              <a:tr h="385425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/>
                        <a:t>UI 상세</a:t>
                      </a: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  <a:tr h="3519400">
                <a:tc gridSpan="4">
                  <a:txBody>
                    <a:bodyPr vert="horz" lIns="91424" tIns="91424" rIns="91424" bIns="91424" anchor="t" anchorCtr="0"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h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  <a:tc vMerge="1">
                  <a:txBody>
                    <a:bodyPr/>
                    <a:p>
                      <a:pPr lvl="0">
                        <a:defRPr/>
                      </a:pPr>
                      <a:endParaRPr lang="ko-KR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190" name="Google Shape;138;p23"/>
          <p:cNvSpPr/>
          <p:nvPr/>
        </p:nvSpPr>
        <p:spPr>
          <a:xfrm>
            <a:off x="1172950" y="1511325"/>
            <a:ext cx="5139060" cy="3245294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1" name="Google Shape;138;p23"/>
          <p:cNvSpPr/>
          <p:nvPr/>
        </p:nvSpPr>
        <p:spPr>
          <a:xfrm>
            <a:off x="1180440" y="1503916"/>
            <a:ext cx="5128341" cy="303124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규칙 추가</a:t>
            </a:r>
            <a:endParaRPr lang="ko-KR" altLang="en-US"/>
          </a:p>
        </p:txBody>
      </p:sp>
      <p:sp>
        <p:nvSpPr>
          <p:cNvPr id="192" name=""/>
          <p:cNvSpPr txBox="1"/>
          <p:nvPr/>
        </p:nvSpPr>
        <p:spPr>
          <a:xfrm>
            <a:off x="1341586" y="1909507"/>
            <a:ext cx="645329" cy="29838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제목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93" name="Google Shape;138;p23"/>
          <p:cNvSpPr/>
          <p:nvPr/>
        </p:nvSpPr>
        <p:spPr>
          <a:xfrm>
            <a:off x="5073855" y="4443815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등록</a:t>
            </a:r>
            <a:endParaRPr lang="ko-KR" altLang="en-US" sz="1000"/>
          </a:p>
        </p:txBody>
      </p:sp>
      <p:sp>
        <p:nvSpPr>
          <p:cNvPr id="194" name="Google Shape;138;p23"/>
          <p:cNvSpPr/>
          <p:nvPr/>
        </p:nvSpPr>
        <p:spPr>
          <a:xfrm>
            <a:off x="5658921" y="4442757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취소</a:t>
            </a:r>
            <a:endParaRPr lang="ko-KR" altLang="en-US" sz="1000"/>
          </a:p>
        </p:txBody>
      </p:sp>
      <p:sp>
        <p:nvSpPr>
          <p:cNvPr id="195" name="Google Shape;138;p23"/>
          <p:cNvSpPr/>
          <p:nvPr/>
        </p:nvSpPr>
        <p:spPr>
          <a:xfrm>
            <a:off x="1947801" y="1943992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196" name=""/>
          <p:cNvSpPr/>
          <p:nvPr/>
        </p:nvSpPr>
        <p:spPr>
          <a:xfrm>
            <a:off x="1465821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1956888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8" name=""/>
          <p:cNvSpPr/>
          <p:nvPr/>
        </p:nvSpPr>
        <p:spPr>
          <a:xfrm>
            <a:off x="2488700" y="2262896"/>
            <a:ext cx="158750" cy="158750"/>
          </a:xfrm>
          <a:prstGeom prst="ellipse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9" name=""/>
          <p:cNvSpPr/>
          <p:nvPr/>
        </p:nvSpPr>
        <p:spPr>
          <a:xfrm>
            <a:off x="3028451" y="2262896"/>
            <a:ext cx="158750" cy="158750"/>
          </a:xfrm>
          <a:prstGeom prst="ellipse">
            <a:avLst/>
          </a:prstGeom>
          <a:solidFill>
            <a:srgbClr val="008000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00" name=""/>
          <p:cNvSpPr txBox="1"/>
          <p:nvPr/>
        </p:nvSpPr>
        <p:spPr>
          <a:xfrm>
            <a:off x="2330015" y="2421647"/>
            <a:ext cx="544085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월간</a:t>
            </a:r>
            <a:endParaRPr lang="ko-KR" altLang="en-US"/>
          </a:p>
        </p:txBody>
      </p:sp>
      <p:sp>
        <p:nvSpPr>
          <p:cNvPr id="201" name=""/>
          <p:cNvSpPr txBox="1"/>
          <p:nvPr/>
        </p:nvSpPr>
        <p:spPr>
          <a:xfrm>
            <a:off x="1772584" y="2421647"/>
            <a:ext cx="539541" cy="300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주간</a:t>
            </a:r>
            <a:endParaRPr lang="ko-KR" altLang="en-US"/>
          </a:p>
        </p:txBody>
      </p:sp>
      <p:sp>
        <p:nvSpPr>
          <p:cNvPr id="202" name=""/>
          <p:cNvSpPr txBox="1"/>
          <p:nvPr/>
        </p:nvSpPr>
        <p:spPr>
          <a:xfrm>
            <a:off x="1268319" y="2421647"/>
            <a:ext cx="544423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일간</a:t>
            </a:r>
            <a:endParaRPr lang="ko-KR" altLang="en-US"/>
          </a:p>
        </p:txBody>
      </p:sp>
      <p:sp>
        <p:nvSpPr>
          <p:cNvPr id="203" name=""/>
          <p:cNvSpPr txBox="1"/>
          <p:nvPr/>
        </p:nvSpPr>
        <p:spPr>
          <a:xfrm>
            <a:off x="2868113" y="2421647"/>
            <a:ext cx="544830" cy="3005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연간</a:t>
            </a:r>
            <a:endParaRPr lang="ko-KR" altLang="en-US"/>
          </a:p>
        </p:txBody>
      </p:sp>
      <p:sp>
        <p:nvSpPr>
          <p:cNvPr id="204" name=""/>
          <p:cNvSpPr txBox="1"/>
          <p:nvPr/>
        </p:nvSpPr>
        <p:spPr>
          <a:xfrm>
            <a:off x="1265386" y="2695319"/>
            <a:ext cx="993672" cy="2976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시작날짜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05" name="Google Shape;138;p23"/>
          <p:cNvSpPr/>
          <p:nvPr/>
        </p:nvSpPr>
        <p:spPr>
          <a:xfrm>
            <a:off x="2186923" y="2725042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06" name=""/>
          <p:cNvSpPr txBox="1"/>
          <p:nvPr/>
        </p:nvSpPr>
        <p:spPr>
          <a:xfrm>
            <a:off x="1260622" y="2971543"/>
            <a:ext cx="998436" cy="297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종료날짜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07" name="Google Shape;138;p23"/>
          <p:cNvSpPr/>
          <p:nvPr/>
        </p:nvSpPr>
        <p:spPr>
          <a:xfrm>
            <a:off x="2182160" y="3001267"/>
            <a:ext cx="1399665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08" name=""/>
          <p:cNvSpPr txBox="1"/>
          <p:nvPr/>
        </p:nvSpPr>
        <p:spPr>
          <a:xfrm>
            <a:off x="2579520" y="3271579"/>
            <a:ext cx="950445" cy="29839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/>
              <a:t>기한없음 </a:t>
            </a:r>
            <a:endParaRPr lang="ko-KR" altLang="en-US"/>
          </a:p>
        </p:txBody>
      </p:sp>
      <p:sp>
        <p:nvSpPr>
          <p:cNvPr id="209" name="Google Shape;138;p23"/>
          <p:cNvSpPr/>
          <p:nvPr/>
        </p:nvSpPr>
        <p:spPr>
          <a:xfrm>
            <a:off x="3419457" y="3344167"/>
            <a:ext cx="175703" cy="1972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10" name="Google Shape;138;p23"/>
          <p:cNvSpPr/>
          <p:nvPr/>
        </p:nvSpPr>
        <p:spPr>
          <a:xfrm>
            <a:off x="1311289" y="3566607"/>
            <a:ext cx="2311798" cy="875833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내용 입력</a:t>
            </a:r>
            <a:endParaRPr lang="ko-KR" altLang="en-US"/>
          </a:p>
        </p:txBody>
      </p:sp>
      <p:sp>
        <p:nvSpPr>
          <p:cNvPr id="169" name=""/>
          <p:cNvSpPr txBox="1"/>
          <p:nvPr/>
        </p:nvSpPr>
        <p:spPr>
          <a:xfrm>
            <a:off x="3630646" y="1908247"/>
            <a:ext cx="646011" cy="2996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빈도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170" name="Google Shape;138;p23"/>
          <p:cNvSpPr/>
          <p:nvPr/>
        </p:nvSpPr>
        <p:spPr>
          <a:xfrm>
            <a:off x="4184111" y="1937292"/>
            <a:ext cx="775777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73" name="Google Shape;138;p23"/>
          <p:cNvSpPr/>
          <p:nvPr/>
        </p:nvSpPr>
        <p:spPr>
          <a:xfrm>
            <a:off x="5742610" y="2245044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추가</a:t>
            </a:r>
            <a:endParaRPr lang="ko-KR" altLang="en-US" sz="1000"/>
          </a:p>
        </p:txBody>
      </p:sp>
      <p:sp>
        <p:nvSpPr>
          <p:cNvPr id="275" name="Google Shape;138;p23"/>
          <p:cNvSpPr/>
          <p:nvPr/>
        </p:nvSpPr>
        <p:spPr>
          <a:xfrm>
            <a:off x="5742610" y="2571750"/>
            <a:ext cx="515957" cy="234331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 sz="1000"/>
              <a:t>제거</a:t>
            </a:r>
            <a:endParaRPr lang="ko-KR" altLang="en-US" sz="1000"/>
          </a:p>
        </p:txBody>
      </p:sp>
      <p:sp>
        <p:nvSpPr>
          <p:cNvPr id="276" name="Google Shape;138;p23"/>
          <p:cNvSpPr/>
          <p:nvPr/>
        </p:nvSpPr>
        <p:spPr>
          <a:xfrm>
            <a:off x="4186116" y="2240086"/>
            <a:ext cx="1477619" cy="244915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77" name=""/>
          <p:cNvSpPr txBox="1"/>
          <p:nvPr/>
        </p:nvSpPr>
        <p:spPr>
          <a:xfrm>
            <a:off x="3630646" y="2219063"/>
            <a:ext cx="646011" cy="2996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날짜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278" name="Google Shape;138;p23"/>
          <p:cNvSpPr/>
          <p:nvPr/>
        </p:nvSpPr>
        <p:spPr>
          <a:xfrm>
            <a:off x="3744958" y="2571750"/>
            <a:ext cx="1918777" cy="1758889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</a:ln>
        </p:spPr>
        <p:txBody>
          <a:bodyPr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추가된 날짜</a:t>
            </a:r>
            <a:r>
              <a:rPr lang="en-US" altLang="ko-KR"/>
              <a:t>(</a:t>
            </a:r>
            <a:r>
              <a:rPr lang="ko-KR" altLang="en-US"/>
              <a:t>내림차순</a:t>
            </a:r>
            <a:r>
              <a:rPr lang="en-US" altLang="ko-KR"/>
              <a:t>)</a:t>
            </a:r>
            <a:endParaRPr lang="en-US" altLang="ko-KR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1737</ep:Words>
  <ep:PresentationFormat>화면 슬라이드 쇼(16:9)</ep:PresentationFormat>
  <ep:Paragraphs>513</ep:Paragraphs>
  <ep:Slides>11</ep:Slides>
  <ep:Notes>41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ep:HeadingPairs>
  <ep:TitlesOfParts>
    <vt:vector size="12" baseType="lpstr">
      <vt:lpstr>Simple Light</vt:lpstr>
      <vt:lpstr>Todo List</vt:lpstr>
      <vt:lpstr>목차</vt:lpstr>
      <vt:lpstr>슬라이드 3</vt:lpstr>
      <vt:lpstr>메인 윈도우 뷰</vt:lpstr>
      <vt:lpstr>슬라이드 5</vt:lpstr>
      <vt:lpstr>추가 윈도우 뷰</vt:lpstr>
      <vt:lpstr>슬라이드 7</vt:lpstr>
      <vt:lpstr>슬라이드 8</vt:lpstr>
      <vt:lpstr>슬라이드 9</vt:lpstr>
      <vt:lpstr>슬라이드 10</vt:lpstr>
      <vt:lpstr>슬라이드 11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김상훈</dc:creator>
  <cp:lastModifiedBy>yofp</cp:lastModifiedBy>
  <dcterms:modified xsi:type="dcterms:W3CDTF">2025-12-25T08:50:39.499</dcterms:modified>
  <cp:revision>95</cp:revision>
  <dc:title>제목없음</dc:title>
  <cp:version>1000.0000.01</cp:version>
</cp:coreProperties>
</file>